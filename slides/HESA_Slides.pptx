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8" r:id="rId9"/>
    <p:sldId id="267" r:id="rId10"/>
  </p:sldIdLst>
  <p:sldSz cx="18288000" cy="10287000"/>
  <p:notesSz cx="6858000" cy="9144000"/>
  <p:embeddedFontLst>
    <p:embeddedFont>
      <p:font typeface="Cambria" panose="02040503050406030204" pitchFamily="18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1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58" autoAdjust="0"/>
  </p:normalViewPr>
  <p:slideViewPr>
    <p:cSldViewPr>
      <p:cViewPr varScale="1">
        <p:scale>
          <a:sx n="69" d="100"/>
          <a:sy n="69" d="100"/>
        </p:scale>
        <p:origin x="256" y="5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00E4BF-C2E0-0144-97A8-55857BA4CFBC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7FEFDF71-4CC0-2842-BDA5-55D24D376E0A}">
      <dgm:prSet phldrT="[Text]" custT="1"/>
      <dgm:spPr>
        <a:solidFill>
          <a:schemeClr val="tx2"/>
        </a:solidFill>
      </dgm:spPr>
      <dgm:t>
        <a:bodyPr/>
        <a:lstStyle/>
        <a:p>
          <a:r>
            <a:rPr lang="en-US" sz="2400" b="1" dirty="0">
              <a:solidFill>
                <a:srgbClr val="F8FAFC"/>
              </a:solidFill>
              <a:latin typeface="Calibri"/>
              <a:ea typeface="Calibri"/>
              <a:cs typeface="Calibri"/>
              <a:sym typeface="Calibri"/>
            </a:rPr>
            <a:t>Stakeholder Briefs </a:t>
          </a:r>
          <a:r>
            <a:rPr lang="en-US" sz="2400" dirty="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rPr>
            <a:t>Submissions filed by healthcare associations, industry, and advocates.</a:t>
          </a:r>
          <a:endParaRPr lang="en-US" sz="2400" dirty="0"/>
        </a:p>
      </dgm:t>
    </dgm:pt>
    <dgm:pt modelId="{2246C252-1A64-AE4B-BD5D-CF2E26ED48DD}" type="parTrans" cxnId="{79471820-0E6E-C84D-A3C6-E91EB4FAFEB6}">
      <dgm:prSet/>
      <dgm:spPr/>
      <dgm:t>
        <a:bodyPr/>
        <a:lstStyle/>
        <a:p>
          <a:endParaRPr lang="en-US"/>
        </a:p>
      </dgm:t>
    </dgm:pt>
    <dgm:pt modelId="{D76417D5-F2B0-7945-ACAB-08BA0EDE353B}" type="sibTrans" cxnId="{79471820-0E6E-C84D-A3C6-E91EB4FAFEB6}">
      <dgm:prSet/>
      <dgm:spPr/>
      <dgm:t>
        <a:bodyPr/>
        <a:lstStyle/>
        <a:p>
          <a:endParaRPr lang="en-US"/>
        </a:p>
      </dgm:t>
    </dgm:pt>
    <dgm:pt modelId="{78482829-EBE5-8747-A251-5845C2676B83}">
      <dgm:prSet phldrT="[Text]" custT="1"/>
      <dgm:spPr>
        <a:solidFill>
          <a:schemeClr val="tx2"/>
        </a:solidFill>
      </dgm:spPr>
      <dgm:t>
        <a:bodyPr/>
        <a:lstStyle/>
        <a:p>
          <a:r>
            <a:rPr lang="en-US" sz="2400" b="1" dirty="0">
              <a:solidFill>
                <a:srgbClr val="F8FAFC"/>
              </a:solidFill>
              <a:latin typeface="Calibri"/>
              <a:ea typeface="Calibri"/>
              <a:cs typeface="Calibri"/>
              <a:sym typeface="Calibri"/>
            </a:rPr>
            <a:t>Committee Study. </a:t>
          </a:r>
          <a:br>
            <a:rPr lang="en-US" sz="2400" b="1" dirty="0">
              <a:solidFill>
                <a:srgbClr val="F8FAFC"/>
              </a:solidFill>
              <a:latin typeface="Calibri"/>
              <a:ea typeface="Calibri"/>
              <a:cs typeface="Calibri"/>
              <a:sym typeface="Calibri"/>
            </a:rPr>
          </a:br>
          <a:r>
            <a:rPr lang="en-US" sz="2400" dirty="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rPr>
            <a:t>House of Commons Standing Committee on Health (HESA) reviews evidence.</a:t>
          </a:r>
          <a:endParaRPr lang="en-US" sz="2400" dirty="0"/>
        </a:p>
      </dgm:t>
    </dgm:pt>
    <dgm:pt modelId="{EAFA4393-CAB2-D54D-A9E2-41CD296AE735}" type="parTrans" cxnId="{3E8F7B3E-ECF7-804C-B052-FD1D04D0ECDB}">
      <dgm:prSet/>
      <dgm:spPr/>
      <dgm:t>
        <a:bodyPr/>
        <a:lstStyle/>
        <a:p>
          <a:endParaRPr lang="en-US"/>
        </a:p>
      </dgm:t>
    </dgm:pt>
    <dgm:pt modelId="{36B0AD9F-8FC7-9E4F-8582-87F68CAEA8AF}" type="sibTrans" cxnId="{3E8F7B3E-ECF7-804C-B052-FD1D04D0ECDB}">
      <dgm:prSet/>
      <dgm:spPr/>
      <dgm:t>
        <a:bodyPr/>
        <a:lstStyle/>
        <a:p>
          <a:endParaRPr lang="en-US"/>
        </a:p>
      </dgm:t>
    </dgm:pt>
    <dgm:pt modelId="{D93B7B22-54A3-FA41-BC0B-37BAD47F9B4C}">
      <dgm:prSet phldrT="[Text]" custT="1"/>
      <dgm:spPr>
        <a:solidFill>
          <a:schemeClr val="tx2"/>
        </a:solidFill>
      </dgm:spPr>
      <dgm:t>
        <a:bodyPr/>
        <a:lstStyle/>
        <a:p>
          <a:r>
            <a:rPr lang="en-US" sz="2400" b="1" dirty="0"/>
            <a:t>Reports and Recommendation </a:t>
          </a:r>
          <a:br>
            <a:rPr lang="en-US" sz="2400" dirty="0"/>
          </a:br>
          <a:r>
            <a:rPr lang="en-US" sz="2400" dirty="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rPr>
            <a:t>HESA publishes final report containing explicit, numbered policy asks.</a:t>
          </a:r>
          <a:endParaRPr lang="en-US" sz="2400" dirty="0"/>
        </a:p>
      </dgm:t>
    </dgm:pt>
    <dgm:pt modelId="{5DD03EDB-F8F6-CB48-8196-B1A78BC7D17B}" type="parTrans" cxnId="{B410CB9C-CCA2-8F4B-A8D7-F42FCEFFE844}">
      <dgm:prSet/>
      <dgm:spPr/>
      <dgm:t>
        <a:bodyPr/>
        <a:lstStyle/>
        <a:p>
          <a:endParaRPr lang="en-US"/>
        </a:p>
      </dgm:t>
    </dgm:pt>
    <dgm:pt modelId="{E9D57831-BE0C-4247-88D5-67261FDA7D67}" type="sibTrans" cxnId="{B410CB9C-CCA2-8F4B-A8D7-F42FCEFFE844}">
      <dgm:prSet/>
      <dgm:spPr/>
      <dgm:t>
        <a:bodyPr/>
        <a:lstStyle/>
        <a:p>
          <a:endParaRPr lang="en-US"/>
        </a:p>
      </dgm:t>
    </dgm:pt>
    <dgm:pt modelId="{14C75F81-2435-4E4B-8BAC-01FC69D5B996}">
      <dgm:prSet phldrT="[Text]" custT="1"/>
      <dgm:spPr>
        <a:solidFill>
          <a:schemeClr val="tx2"/>
        </a:solidFill>
      </dgm:spPr>
      <dgm:t>
        <a:bodyPr/>
        <a:lstStyle/>
        <a:p>
          <a:r>
            <a:rPr lang="en-US" sz="2400" b="1" dirty="0">
              <a:solidFill>
                <a:srgbClr val="F8FAFC"/>
              </a:solidFill>
              <a:latin typeface="Calibri"/>
              <a:ea typeface="Calibri"/>
              <a:cs typeface="Calibri"/>
              <a:sym typeface="Calibri"/>
            </a:rPr>
            <a:t>Government Response </a:t>
          </a:r>
          <a:br>
            <a:rPr lang="en-US" sz="2400" b="1" dirty="0">
              <a:solidFill>
                <a:srgbClr val="F8FAFC"/>
              </a:solidFill>
              <a:latin typeface="Calibri"/>
              <a:ea typeface="Calibri"/>
              <a:cs typeface="Calibri"/>
              <a:sym typeface="Calibri"/>
            </a:rPr>
          </a:br>
          <a:r>
            <a:rPr lang="en-US" sz="2400" dirty="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rPr>
            <a:t>The government bound to respond/commit within a strict 120-day window.</a:t>
          </a:r>
          <a:endParaRPr lang="en-US" sz="2400" dirty="0"/>
        </a:p>
      </dgm:t>
    </dgm:pt>
    <dgm:pt modelId="{2B65C8B5-C17D-6D43-8823-BA96CCE2F857}" type="parTrans" cxnId="{44D14FB2-ABAB-2F41-BFE3-A242AD2959A1}">
      <dgm:prSet/>
      <dgm:spPr/>
      <dgm:t>
        <a:bodyPr/>
        <a:lstStyle/>
        <a:p>
          <a:endParaRPr lang="en-US"/>
        </a:p>
      </dgm:t>
    </dgm:pt>
    <dgm:pt modelId="{60189CD3-02B8-E447-8862-5AB5D7BC4571}" type="sibTrans" cxnId="{44D14FB2-ABAB-2F41-BFE3-A242AD2959A1}">
      <dgm:prSet/>
      <dgm:spPr/>
      <dgm:t>
        <a:bodyPr/>
        <a:lstStyle/>
        <a:p>
          <a:endParaRPr lang="en-US"/>
        </a:p>
      </dgm:t>
    </dgm:pt>
    <dgm:pt modelId="{89127E08-A5DD-B14B-AF7B-412E71D9C22D}" type="pres">
      <dgm:prSet presAssocID="{3900E4BF-C2E0-0144-97A8-55857BA4CFBC}" presName="Name0" presStyleCnt="0">
        <dgm:presLayoutVars>
          <dgm:dir/>
          <dgm:resizeHandles val="exact"/>
        </dgm:presLayoutVars>
      </dgm:prSet>
      <dgm:spPr/>
    </dgm:pt>
    <dgm:pt modelId="{15FAF04F-4505-5942-A6D7-6DB18FB31CB2}" type="pres">
      <dgm:prSet presAssocID="{7FEFDF71-4CC0-2842-BDA5-55D24D376E0A}" presName="node" presStyleLbl="node1" presStyleIdx="0" presStyleCnt="4">
        <dgm:presLayoutVars>
          <dgm:bulletEnabled val="1"/>
        </dgm:presLayoutVars>
      </dgm:prSet>
      <dgm:spPr/>
    </dgm:pt>
    <dgm:pt modelId="{D6B253AB-6302-CF43-BF49-3BD7C4A2B09D}" type="pres">
      <dgm:prSet presAssocID="{D76417D5-F2B0-7945-ACAB-08BA0EDE353B}" presName="sibTrans" presStyleLbl="sibTrans2D1" presStyleIdx="0" presStyleCnt="3"/>
      <dgm:spPr/>
    </dgm:pt>
    <dgm:pt modelId="{C8D43157-1EDE-2A45-8C51-928BAA24DF98}" type="pres">
      <dgm:prSet presAssocID="{D76417D5-F2B0-7945-ACAB-08BA0EDE353B}" presName="connectorText" presStyleLbl="sibTrans2D1" presStyleIdx="0" presStyleCnt="3"/>
      <dgm:spPr/>
    </dgm:pt>
    <dgm:pt modelId="{AD47739F-8381-A242-BAA8-E5A7576B384D}" type="pres">
      <dgm:prSet presAssocID="{78482829-EBE5-8747-A251-5845C2676B83}" presName="node" presStyleLbl="node1" presStyleIdx="1" presStyleCnt="4">
        <dgm:presLayoutVars>
          <dgm:bulletEnabled val="1"/>
        </dgm:presLayoutVars>
      </dgm:prSet>
      <dgm:spPr/>
    </dgm:pt>
    <dgm:pt modelId="{B4E5E728-B7E4-0644-8BBA-72949C15618C}" type="pres">
      <dgm:prSet presAssocID="{36B0AD9F-8FC7-9E4F-8582-87F68CAEA8AF}" presName="sibTrans" presStyleLbl="sibTrans2D1" presStyleIdx="1" presStyleCnt="3"/>
      <dgm:spPr/>
    </dgm:pt>
    <dgm:pt modelId="{0BD9ADC0-A1AA-8045-98A1-2E025C0D8295}" type="pres">
      <dgm:prSet presAssocID="{36B0AD9F-8FC7-9E4F-8582-87F68CAEA8AF}" presName="connectorText" presStyleLbl="sibTrans2D1" presStyleIdx="1" presStyleCnt="3"/>
      <dgm:spPr/>
    </dgm:pt>
    <dgm:pt modelId="{DB1890CA-00D4-2046-B547-2B4DC19FF104}" type="pres">
      <dgm:prSet presAssocID="{D93B7B22-54A3-FA41-BC0B-37BAD47F9B4C}" presName="node" presStyleLbl="node1" presStyleIdx="2" presStyleCnt="4">
        <dgm:presLayoutVars>
          <dgm:bulletEnabled val="1"/>
        </dgm:presLayoutVars>
      </dgm:prSet>
      <dgm:spPr/>
    </dgm:pt>
    <dgm:pt modelId="{C55872AF-6F53-F941-8C35-0DC5102395B6}" type="pres">
      <dgm:prSet presAssocID="{E9D57831-BE0C-4247-88D5-67261FDA7D67}" presName="sibTrans" presStyleLbl="sibTrans2D1" presStyleIdx="2" presStyleCnt="3"/>
      <dgm:spPr/>
    </dgm:pt>
    <dgm:pt modelId="{0241A843-4314-E648-A9C5-7CA307F82E82}" type="pres">
      <dgm:prSet presAssocID="{E9D57831-BE0C-4247-88D5-67261FDA7D67}" presName="connectorText" presStyleLbl="sibTrans2D1" presStyleIdx="2" presStyleCnt="3"/>
      <dgm:spPr/>
    </dgm:pt>
    <dgm:pt modelId="{B23851AF-ED23-4242-94DB-C1EF454B746E}" type="pres">
      <dgm:prSet presAssocID="{14C75F81-2435-4E4B-8BAC-01FC69D5B996}" presName="node" presStyleLbl="node1" presStyleIdx="3" presStyleCnt="4">
        <dgm:presLayoutVars>
          <dgm:bulletEnabled val="1"/>
        </dgm:presLayoutVars>
      </dgm:prSet>
      <dgm:spPr/>
    </dgm:pt>
  </dgm:ptLst>
  <dgm:cxnLst>
    <dgm:cxn modelId="{1AF00108-01E0-8D49-9176-F474193FC672}" type="presOf" srcId="{D76417D5-F2B0-7945-ACAB-08BA0EDE353B}" destId="{D6B253AB-6302-CF43-BF49-3BD7C4A2B09D}" srcOrd="0" destOrd="0" presId="urn:microsoft.com/office/officeart/2005/8/layout/process1"/>
    <dgm:cxn modelId="{69A5D31A-D8D3-9045-8B88-CA1A44E87EA1}" type="presOf" srcId="{36B0AD9F-8FC7-9E4F-8582-87F68CAEA8AF}" destId="{0BD9ADC0-A1AA-8045-98A1-2E025C0D8295}" srcOrd="1" destOrd="0" presId="urn:microsoft.com/office/officeart/2005/8/layout/process1"/>
    <dgm:cxn modelId="{79471820-0E6E-C84D-A3C6-E91EB4FAFEB6}" srcId="{3900E4BF-C2E0-0144-97A8-55857BA4CFBC}" destId="{7FEFDF71-4CC0-2842-BDA5-55D24D376E0A}" srcOrd="0" destOrd="0" parTransId="{2246C252-1A64-AE4B-BD5D-CF2E26ED48DD}" sibTransId="{D76417D5-F2B0-7945-ACAB-08BA0EDE353B}"/>
    <dgm:cxn modelId="{3BE69E21-2B1A-2F4D-A56F-D9369413A901}" type="presOf" srcId="{7FEFDF71-4CC0-2842-BDA5-55D24D376E0A}" destId="{15FAF04F-4505-5942-A6D7-6DB18FB31CB2}" srcOrd="0" destOrd="0" presId="urn:microsoft.com/office/officeart/2005/8/layout/process1"/>
    <dgm:cxn modelId="{799B032D-83E3-A348-8884-10C14D909939}" type="presOf" srcId="{3900E4BF-C2E0-0144-97A8-55857BA4CFBC}" destId="{89127E08-A5DD-B14B-AF7B-412E71D9C22D}" srcOrd="0" destOrd="0" presId="urn:microsoft.com/office/officeart/2005/8/layout/process1"/>
    <dgm:cxn modelId="{3FBCEB2E-ABAD-A147-AA05-9D249BA9FDB1}" type="presOf" srcId="{36B0AD9F-8FC7-9E4F-8582-87F68CAEA8AF}" destId="{B4E5E728-B7E4-0644-8BBA-72949C15618C}" srcOrd="0" destOrd="0" presId="urn:microsoft.com/office/officeart/2005/8/layout/process1"/>
    <dgm:cxn modelId="{9CDD623D-3FAA-9F4F-8AA8-941902009D15}" type="presOf" srcId="{D93B7B22-54A3-FA41-BC0B-37BAD47F9B4C}" destId="{DB1890CA-00D4-2046-B547-2B4DC19FF104}" srcOrd="0" destOrd="0" presId="urn:microsoft.com/office/officeart/2005/8/layout/process1"/>
    <dgm:cxn modelId="{3E8F7B3E-ECF7-804C-B052-FD1D04D0ECDB}" srcId="{3900E4BF-C2E0-0144-97A8-55857BA4CFBC}" destId="{78482829-EBE5-8747-A251-5845C2676B83}" srcOrd="1" destOrd="0" parTransId="{EAFA4393-CAB2-D54D-A9E2-41CD296AE735}" sibTransId="{36B0AD9F-8FC7-9E4F-8582-87F68CAEA8AF}"/>
    <dgm:cxn modelId="{A1AFBC72-03E0-084B-9E5E-C41B549787BA}" type="presOf" srcId="{14C75F81-2435-4E4B-8BAC-01FC69D5B996}" destId="{B23851AF-ED23-4242-94DB-C1EF454B746E}" srcOrd="0" destOrd="0" presId="urn:microsoft.com/office/officeart/2005/8/layout/process1"/>
    <dgm:cxn modelId="{E1A5098E-0945-5942-BDD6-123E6C42A1EC}" type="presOf" srcId="{78482829-EBE5-8747-A251-5845C2676B83}" destId="{AD47739F-8381-A242-BAA8-E5A7576B384D}" srcOrd="0" destOrd="0" presId="urn:microsoft.com/office/officeart/2005/8/layout/process1"/>
    <dgm:cxn modelId="{B410CB9C-CCA2-8F4B-A8D7-F42FCEFFE844}" srcId="{3900E4BF-C2E0-0144-97A8-55857BA4CFBC}" destId="{D93B7B22-54A3-FA41-BC0B-37BAD47F9B4C}" srcOrd="2" destOrd="0" parTransId="{5DD03EDB-F8F6-CB48-8196-B1A78BC7D17B}" sibTransId="{E9D57831-BE0C-4247-88D5-67261FDA7D67}"/>
    <dgm:cxn modelId="{D57C5AA5-983A-8645-B7B6-2AB6A0DA5041}" type="presOf" srcId="{E9D57831-BE0C-4247-88D5-67261FDA7D67}" destId="{0241A843-4314-E648-A9C5-7CA307F82E82}" srcOrd="1" destOrd="0" presId="urn:microsoft.com/office/officeart/2005/8/layout/process1"/>
    <dgm:cxn modelId="{44D14FB2-ABAB-2F41-BFE3-A242AD2959A1}" srcId="{3900E4BF-C2E0-0144-97A8-55857BA4CFBC}" destId="{14C75F81-2435-4E4B-8BAC-01FC69D5B996}" srcOrd="3" destOrd="0" parTransId="{2B65C8B5-C17D-6D43-8823-BA96CCE2F857}" sibTransId="{60189CD3-02B8-E447-8862-5AB5D7BC4571}"/>
    <dgm:cxn modelId="{B1EC62E9-4D8D-7343-A6BC-58045B2BB157}" type="presOf" srcId="{D76417D5-F2B0-7945-ACAB-08BA0EDE353B}" destId="{C8D43157-1EDE-2A45-8C51-928BAA24DF98}" srcOrd="1" destOrd="0" presId="urn:microsoft.com/office/officeart/2005/8/layout/process1"/>
    <dgm:cxn modelId="{EC95C8F8-16CB-5E47-9283-470285F5FFFA}" type="presOf" srcId="{E9D57831-BE0C-4247-88D5-67261FDA7D67}" destId="{C55872AF-6F53-F941-8C35-0DC5102395B6}" srcOrd="0" destOrd="0" presId="urn:microsoft.com/office/officeart/2005/8/layout/process1"/>
    <dgm:cxn modelId="{A075BF7C-9E3D-C846-8289-EA42458B3FEC}" type="presParOf" srcId="{89127E08-A5DD-B14B-AF7B-412E71D9C22D}" destId="{15FAF04F-4505-5942-A6D7-6DB18FB31CB2}" srcOrd="0" destOrd="0" presId="urn:microsoft.com/office/officeart/2005/8/layout/process1"/>
    <dgm:cxn modelId="{FB7D7956-D67A-E543-A343-44A6F5DC6C82}" type="presParOf" srcId="{89127E08-A5DD-B14B-AF7B-412E71D9C22D}" destId="{D6B253AB-6302-CF43-BF49-3BD7C4A2B09D}" srcOrd="1" destOrd="0" presId="urn:microsoft.com/office/officeart/2005/8/layout/process1"/>
    <dgm:cxn modelId="{7CE373B4-F91B-9247-B4A7-C94FD1CBE67B}" type="presParOf" srcId="{D6B253AB-6302-CF43-BF49-3BD7C4A2B09D}" destId="{C8D43157-1EDE-2A45-8C51-928BAA24DF98}" srcOrd="0" destOrd="0" presId="urn:microsoft.com/office/officeart/2005/8/layout/process1"/>
    <dgm:cxn modelId="{4492791E-1020-4C4A-8E3C-14361CC8C312}" type="presParOf" srcId="{89127E08-A5DD-B14B-AF7B-412E71D9C22D}" destId="{AD47739F-8381-A242-BAA8-E5A7576B384D}" srcOrd="2" destOrd="0" presId="urn:microsoft.com/office/officeart/2005/8/layout/process1"/>
    <dgm:cxn modelId="{15EC95A9-375B-D746-AE09-4A10CC88CD6B}" type="presParOf" srcId="{89127E08-A5DD-B14B-AF7B-412E71D9C22D}" destId="{B4E5E728-B7E4-0644-8BBA-72949C15618C}" srcOrd="3" destOrd="0" presId="urn:microsoft.com/office/officeart/2005/8/layout/process1"/>
    <dgm:cxn modelId="{C6B0A143-59B1-B54B-AF86-CB54C862BC0F}" type="presParOf" srcId="{B4E5E728-B7E4-0644-8BBA-72949C15618C}" destId="{0BD9ADC0-A1AA-8045-98A1-2E025C0D8295}" srcOrd="0" destOrd="0" presId="urn:microsoft.com/office/officeart/2005/8/layout/process1"/>
    <dgm:cxn modelId="{CCC0F3AC-B966-FC42-9F15-C0C89F97B6F7}" type="presParOf" srcId="{89127E08-A5DD-B14B-AF7B-412E71D9C22D}" destId="{DB1890CA-00D4-2046-B547-2B4DC19FF104}" srcOrd="4" destOrd="0" presId="urn:microsoft.com/office/officeart/2005/8/layout/process1"/>
    <dgm:cxn modelId="{2E14F008-EE5B-0841-9B85-CEB95EE763AF}" type="presParOf" srcId="{89127E08-A5DD-B14B-AF7B-412E71D9C22D}" destId="{C55872AF-6F53-F941-8C35-0DC5102395B6}" srcOrd="5" destOrd="0" presId="urn:microsoft.com/office/officeart/2005/8/layout/process1"/>
    <dgm:cxn modelId="{2F11BCA6-9E58-FE4E-8C16-762D750719CE}" type="presParOf" srcId="{C55872AF-6F53-F941-8C35-0DC5102395B6}" destId="{0241A843-4314-E648-A9C5-7CA307F82E82}" srcOrd="0" destOrd="0" presId="urn:microsoft.com/office/officeart/2005/8/layout/process1"/>
    <dgm:cxn modelId="{01631561-615D-464A-B84C-F40D51CD8025}" type="presParOf" srcId="{89127E08-A5DD-B14B-AF7B-412E71D9C22D}" destId="{B23851AF-ED23-4242-94DB-C1EF454B746E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FAF04F-4505-5942-A6D7-6DB18FB31CB2}">
      <dsp:nvSpPr>
        <dsp:cNvPr id="0" name=""/>
        <dsp:cNvSpPr/>
      </dsp:nvSpPr>
      <dsp:spPr>
        <a:xfrm>
          <a:off x="6687" y="384958"/>
          <a:ext cx="2923711" cy="2715282"/>
        </a:xfrm>
        <a:prstGeom prst="roundRect">
          <a:avLst>
            <a:gd name="adj" fmla="val 10000"/>
          </a:avLst>
        </a:prstGeom>
        <a:solidFill>
          <a:schemeClr val="tx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rgbClr val="F8FAFC"/>
              </a:solidFill>
              <a:latin typeface="Calibri"/>
              <a:ea typeface="Calibri"/>
              <a:cs typeface="Calibri"/>
              <a:sym typeface="Calibri"/>
            </a:rPr>
            <a:t>Stakeholder Briefs </a:t>
          </a:r>
          <a:r>
            <a:rPr lang="en-US" sz="2400" kern="1200" dirty="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rPr>
            <a:t>Submissions filed by healthcare associations, industry, and advocates.</a:t>
          </a:r>
          <a:endParaRPr lang="en-US" sz="2400" kern="1200" dirty="0"/>
        </a:p>
      </dsp:txBody>
      <dsp:txXfrm>
        <a:off x="86215" y="464486"/>
        <a:ext cx="2764655" cy="2556226"/>
      </dsp:txXfrm>
    </dsp:sp>
    <dsp:sp modelId="{D6B253AB-6302-CF43-BF49-3BD7C4A2B09D}">
      <dsp:nvSpPr>
        <dsp:cNvPr id="0" name=""/>
        <dsp:cNvSpPr/>
      </dsp:nvSpPr>
      <dsp:spPr>
        <a:xfrm>
          <a:off x="3222769" y="1380059"/>
          <a:ext cx="619826" cy="72508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3222769" y="1525075"/>
        <a:ext cx="433878" cy="435048"/>
      </dsp:txXfrm>
    </dsp:sp>
    <dsp:sp modelId="{AD47739F-8381-A242-BAA8-E5A7576B384D}">
      <dsp:nvSpPr>
        <dsp:cNvPr id="0" name=""/>
        <dsp:cNvSpPr/>
      </dsp:nvSpPr>
      <dsp:spPr>
        <a:xfrm>
          <a:off x="4099882" y="384958"/>
          <a:ext cx="2923711" cy="2715282"/>
        </a:xfrm>
        <a:prstGeom prst="roundRect">
          <a:avLst>
            <a:gd name="adj" fmla="val 10000"/>
          </a:avLst>
        </a:prstGeom>
        <a:solidFill>
          <a:schemeClr val="tx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rgbClr val="F8FAFC"/>
              </a:solidFill>
              <a:latin typeface="Calibri"/>
              <a:ea typeface="Calibri"/>
              <a:cs typeface="Calibri"/>
              <a:sym typeface="Calibri"/>
            </a:rPr>
            <a:t>Committee Study. </a:t>
          </a:r>
          <a:br>
            <a:rPr lang="en-US" sz="2400" b="1" kern="1200" dirty="0">
              <a:solidFill>
                <a:srgbClr val="F8FAFC"/>
              </a:solidFill>
              <a:latin typeface="Calibri"/>
              <a:ea typeface="Calibri"/>
              <a:cs typeface="Calibri"/>
              <a:sym typeface="Calibri"/>
            </a:rPr>
          </a:br>
          <a:r>
            <a:rPr lang="en-US" sz="2400" kern="1200" dirty="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rPr>
            <a:t>House of Commons Standing Committee on Health (HESA) reviews evidence.</a:t>
          </a:r>
          <a:endParaRPr lang="en-US" sz="2400" kern="1200" dirty="0"/>
        </a:p>
      </dsp:txBody>
      <dsp:txXfrm>
        <a:off x="4179410" y="464486"/>
        <a:ext cx="2764655" cy="2556226"/>
      </dsp:txXfrm>
    </dsp:sp>
    <dsp:sp modelId="{B4E5E728-B7E4-0644-8BBA-72949C15618C}">
      <dsp:nvSpPr>
        <dsp:cNvPr id="0" name=""/>
        <dsp:cNvSpPr/>
      </dsp:nvSpPr>
      <dsp:spPr>
        <a:xfrm>
          <a:off x="7315965" y="1380059"/>
          <a:ext cx="619826" cy="72508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7315965" y="1525075"/>
        <a:ext cx="433878" cy="435048"/>
      </dsp:txXfrm>
    </dsp:sp>
    <dsp:sp modelId="{DB1890CA-00D4-2046-B547-2B4DC19FF104}">
      <dsp:nvSpPr>
        <dsp:cNvPr id="0" name=""/>
        <dsp:cNvSpPr/>
      </dsp:nvSpPr>
      <dsp:spPr>
        <a:xfrm>
          <a:off x="8193078" y="384958"/>
          <a:ext cx="2923711" cy="2715282"/>
        </a:xfrm>
        <a:prstGeom prst="roundRect">
          <a:avLst>
            <a:gd name="adj" fmla="val 10000"/>
          </a:avLst>
        </a:prstGeom>
        <a:solidFill>
          <a:schemeClr val="tx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Reports and Recommendation </a:t>
          </a:r>
          <a:br>
            <a:rPr lang="en-US" sz="2400" kern="1200" dirty="0"/>
          </a:br>
          <a:r>
            <a:rPr lang="en-US" sz="2400" kern="1200" dirty="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rPr>
            <a:t>HESA publishes final report containing explicit, numbered policy asks.</a:t>
          </a:r>
          <a:endParaRPr lang="en-US" sz="2400" kern="1200" dirty="0"/>
        </a:p>
      </dsp:txBody>
      <dsp:txXfrm>
        <a:off x="8272606" y="464486"/>
        <a:ext cx="2764655" cy="2556226"/>
      </dsp:txXfrm>
    </dsp:sp>
    <dsp:sp modelId="{C55872AF-6F53-F941-8C35-0DC5102395B6}">
      <dsp:nvSpPr>
        <dsp:cNvPr id="0" name=""/>
        <dsp:cNvSpPr/>
      </dsp:nvSpPr>
      <dsp:spPr>
        <a:xfrm>
          <a:off x="11409161" y="1380059"/>
          <a:ext cx="619826" cy="72508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11409161" y="1525075"/>
        <a:ext cx="433878" cy="435048"/>
      </dsp:txXfrm>
    </dsp:sp>
    <dsp:sp modelId="{B23851AF-ED23-4242-94DB-C1EF454B746E}">
      <dsp:nvSpPr>
        <dsp:cNvPr id="0" name=""/>
        <dsp:cNvSpPr/>
      </dsp:nvSpPr>
      <dsp:spPr>
        <a:xfrm>
          <a:off x="12286274" y="384958"/>
          <a:ext cx="2923711" cy="2715282"/>
        </a:xfrm>
        <a:prstGeom prst="roundRect">
          <a:avLst>
            <a:gd name="adj" fmla="val 10000"/>
          </a:avLst>
        </a:prstGeom>
        <a:solidFill>
          <a:schemeClr val="tx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rgbClr val="F8FAFC"/>
              </a:solidFill>
              <a:latin typeface="Calibri"/>
              <a:ea typeface="Calibri"/>
              <a:cs typeface="Calibri"/>
              <a:sym typeface="Calibri"/>
            </a:rPr>
            <a:t>Government Response </a:t>
          </a:r>
          <a:br>
            <a:rPr lang="en-US" sz="2400" b="1" kern="1200" dirty="0">
              <a:solidFill>
                <a:srgbClr val="F8FAFC"/>
              </a:solidFill>
              <a:latin typeface="Calibri"/>
              <a:ea typeface="Calibri"/>
              <a:cs typeface="Calibri"/>
              <a:sym typeface="Calibri"/>
            </a:rPr>
          </a:br>
          <a:r>
            <a:rPr lang="en-US" sz="2400" kern="1200" dirty="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rPr>
            <a:t>The government bound to respond/commit within a strict 120-day window.</a:t>
          </a:r>
          <a:endParaRPr lang="en-US" sz="2400" kern="1200" dirty="0"/>
        </a:p>
      </dsp:txBody>
      <dsp:txXfrm>
        <a:off x="12365802" y="464486"/>
        <a:ext cx="2764655" cy="25562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749C1F-AE4B-5E48-9AAF-A70405A51832}" type="datetimeFigureOut">
              <a:rPr lang="en-US" smtClean="0"/>
              <a:t>7/19/26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F35CE3-CA8F-994B-8658-43BF8D75C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032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BBAD180-B911-FD1D-2831-8076D4C9E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3254"/>
            <a:ext cx="18288000" cy="10287000"/>
          </a:xfrm>
          <a:prstGeom prst="rect">
            <a:avLst/>
          </a:prstGeom>
          <a:solidFill>
            <a:schemeClr val="accent2"/>
          </a:solidFill>
        </p:spPr>
      </p:pic>
      <p:pic>
        <p:nvPicPr>
          <p:cNvPr id="13" name="Graphic 12" descr="WatSPEED">
            <a:extLst>
              <a:ext uri="{FF2B5EF4-FFF2-40B4-BE49-F238E27FC236}">
                <a16:creationId xmlns:a16="http://schemas.microsoft.com/office/drawing/2014/main" id="{43646494-4675-7E03-A663-3C5595DBF9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600" y="9639300"/>
            <a:ext cx="2362200" cy="381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2EE91B9-56CD-F07F-7D29-2A8B5F8D7112}"/>
              </a:ext>
            </a:extLst>
          </p:cNvPr>
          <p:cNvSpPr txBox="1"/>
          <p:nvPr/>
        </p:nvSpPr>
        <p:spPr>
          <a:xfrm>
            <a:off x="1198984" y="4655284"/>
            <a:ext cx="6858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Term project </a:t>
            </a:r>
            <a:endParaRPr lang="en-CA" sz="3200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r>
              <a:rPr lang="en-CA" sz="32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Large Language Models</a:t>
            </a:r>
            <a:br>
              <a:rPr lang="en-CA" sz="32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</a:br>
            <a:r>
              <a:rPr lang="en-CA" sz="3200" dirty="0" err="1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WatSPEED</a:t>
            </a:r>
            <a:r>
              <a:rPr lang="en-CA" sz="32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– University of Waterloo  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CC3C9F2-1E4F-30F2-4025-AF169EF554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52679" y="9531350"/>
            <a:ext cx="2298700" cy="5969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F129871-5C8E-209A-A11D-6419A31178E4}"/>
              </a:ext>
            </a:extLst>
          </p:cNvPr>
          <p:cNvSpPr txBox="1"/>
          <p:nvPr/>
        </p:nvSpPr>
        <p:spPr>
          <a:xfrm>
            <a:off x="1219200" y="1427143"/>
            <a:ext cx="967740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4400" b="1" dirty="0">
                <a:solidFill>
                  <a:schemeClr val="tx2"/>
                </a:solidFill>
                <a:effectLst>
                  <a:innerShdw blurRad="63500" dist="50800" dir="16200000">
                    <a:schemeClr val="bg2">
                      <a:alpha val="50000"/>
                    </a:schemeClr>
                  </a:innerShdw>
                </a:effectLst>
                <a:latin typeface=""/>
                <a:cs typeface="Sana" pitchFamily="2" charset="-78"/>
              </a:rPr>
              <a:t>Analysis of Submissions to the House of Commons Standing Committee on Health (HESA)</a:t>
            </a:r>
            <a:br>
              <a:rPr lang="en-CA" sz="4400" dirty="0">
                <a:solidFill>
                  <a:schemeClr val="tx2"/>
                </a:solidFill>
                <a:effectLst>
                  <a:innerShdw blurRad="63500" dist="50800" dir="16200000">
                    <a:schemeClr val="bg2">
                      <a:alpha val="50000"/>
                    </a:schemeClr>
                  </a:innerShdw>
                </a:effectLst>
                <a:latin typeface=""/>
                <a:cs typeface="Sana" pitchFamily="2" charset="-78"/>
              </a:rPr>
            </a:br>
            <a:br>
              <a:rPr lang="en-CA" sz="1600" dirty="0">
                <a:solidFill>
                  <a:schemeClr val="tx2"/>
                </a:solidFill>
                <a:effectLst>
                  <a:innerShdw blurRad="63500" dist="50800" dir="16200000">
                    <a:schemeClr val="bg2">
                      <a:alpha val="50000"/>
                    </a:schemeClr>
                  </a:innerShdw>
                </a:effectLst>
                <a:latin typeface=""/>
                <a:cs typeface="Sana" pitchFamily="2" charset="-78"/>
              </a:rPr>
            </a:br>
            <a:r>
              <a:rPr lang="en-CA" sz="4000" i="1" dirty="0">
                <a:solidFill>
                  <a:schemeClr val="tx2"/>
                </a:solidFill>
                <a:effectLst>
                  <a:innerShdw blurRad="63500" dist="50800" dir="16200000">
                    <a:schemeClr val="bg2">
                      <a:alpha val="50000"/>
                    </a:schemeClr>
                  </a:innerShdw>
                </a:effectLst>
                <a:latin typeface="Aptos" panose="020B0004020202020204" pitchFamily="34" charset="0"/>
                <a:cs typeface="Sana" pitchFamily="2" charset="-78"/>
              </a:rPr>
              <a:t>An LLM-Powered Policy Gap Analysis</a:t>
            </a:r>
            <a:endParaRPr lang="en-US" sz="4400" i="1" dirty="0">
              <a:solidFill>
                <a:schemeClr val="tx2"/>
              </a:solidFill>
              <a:effectLst>
                <a:innerShdw blurRad="63500" dist="50800" dir="16200000">
                  <a:schemeClr val="bg2">
                    <a:alpha val="50000"/>
                  </a:schemeClr>
                </a:innerShdw>
              </a:effectLst>
              <a:latin typeface="Aptos" panose="020B0004020202020204" pitchFamily="34" charset="0"/>
              <a:cs typeface="Sana" pitchFamily="2" charset="-7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A2EC03-4DBB-2FD8-15A6-AB1D519D3D62}"/>
              </a:ext>
            </a:extLst>
          </p:cNvPr>
          <p:cNvSpPr txBox="1"/>
          <p:nvPr/>
        </p:nvSpPr>
        <p:spPr>
          <a:xfrm>
            <a:off x="1198984" y="6457771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b="1">
                <a:solidFill>
                  <a:schemeClr val="accent2">
                    <a:lumMod val="40000"/>
                    <a:lumOff val="60000"/>
                  </a:schemeClr>
                </a:solidFill>
                <a:latin typeface="Aptos" panose="020B0004020202020204" pitchFamily="34" charset="0"/>
              </a:rPr>
              <a:t>Presented by </a:t>
            </a:r>
            <a:br>
              <a:rPr lang="en-CA" sz="3600" b="1">
                <a:solidFill>
                  <a:schemeClr val="accent2">
                    <a:lumMod val="40000"/>
                    <a:lumOff val="60000"/>
                  </a:schemeClr>
                </a:solidFill>
                <a:latin typeface="Aptos" panose="020B0004020202020204" pitchFamily="34" charset="0"/>
              </a:rPr>
            </a:br>
            <a:r>
              <a:rPr lang="en-CA" sz="3600">
                <a:solidFill>
                  <a:schemeClr val="accent2">
                    <a:lumMod val="40000"/>
                    <a:lumOff val="60000"/>
                  </a:schemeClr>
                </a:solidFill>
                <a:latin typeface="Aptos" panose="020B0004020202020204" pitchFamily="34" charset="0"/>
              </a:rPr>
              <a:t>Siarhei Yermakou</a:t>
            </a:r>
            <a:endParaRPr lang="en-US" sz="2400">
              <a:solidFill>
                <a:schemeClr val="accent2">
                  <a:lumMod val="40000"/>
                  <a:lumOff val="60000"/>
                </a:schemeClr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0EB783-9B28-6C79-4963-C809111FD07A}"/>
              </a:ext>
            </a:extLst>
          </p:cNvPr>
          <p:cNvSpPr txBox="1"/>
          <p:nvPr/>
        </p:nvSpPr>
        <p:spPr>
          <a:xfrm>
            <a:off x="914400" y="571500"/>
            <a:ext cx="9144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CA" sz="6000" b="1" i="0" u="none" strike="noStrike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HESA &amp; The Policy Lifecycle </a:t>
            </a:r>
            <a:br>
              <a:rPr lang="en-CA" sz="3600" dirty="0">
                <a:solidFill>
                  <a:schemeClr val="tx2">
                    <a:lumMod val="75000"/>
                  </a:schemeClr>
                </a:solidFill>
              </a:rPr>
            </a:br>
            <a:endParaRPr lang="en-US" sz="3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" name="Google Shape;86;p13">
            <a:extLst>
              <a:ext uri="{FF2B5EF4-FFF2-40B4-BE49-F238E27FC236}">
                <a16:creationId xmlns:a16="http://schemas.microsoft.com/office/drawing/2014/main" id="{9704EF01-E079-E45D-0F5D-71B66672DF54}"/>
              </a:ext>
            </a:extLst>
          </p:cNvPr>
          <p:cNvSpPr txBox="1"/>
          <p:nvPr/>
        </p:nvSpPr>
        <p:spPr>
          <a:xfrm>
            <a:off x="891073" y="1575864"/>
            <a:ext cx="152400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Tracking stakeholder advocacy from parliamentary submission to executive commitment.</a:t>
            </a:r>
            <a:endParaRPr sz="3600"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27B568FE-4F65-87EF-2E6E-DA8AD4B1B1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1278345"/>
              </p:ext>
            </p:extLst>
          </p:nvPr>
        </p:nvGraphicFramePr>
        <p:xfrm>
          <a:off x="914399" y="2115500"/>
          <a:ext cx="15216673" cy="34851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Google Shape;91;p13">
            <a:extLst>
              <a:ext uri="{FF2B5EF4-FFF2-40B4-BE49-F238E27FC236}">
                <a16:creationId xmlns:a16="http://schemas.microsoft.com/office/drawing/2014/main" id="{796EA05D-5A6E-D401-3900-38DEFB846C21}"/>
              </a:ext>
            </a:extLst>
          </p:cNvPr>
          <p:cNvSpPr/>
          <p:nvPr/>
        </p:nvSpPr>
        <p:spPr>
          <a:xfrm>
            <a:off x="685800" y="6172200"/>
            <a:ext cx="7391400" cy="32918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r>
              <a:rPr lang="en-US" sz="3200" b="1" dirty="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3200" dirty="0"/>
          </a:p>
          <a:p>
            <a:br>
              <a:rPr lang="en-US" sz="2800" dirty="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dirty="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Hundreds of scattered, unsearchable parliamentary PDFs. Critical policy insights are trapped without thematic or organizational cross-referencing.</a:t>
            </a:r>
            <a:endParaRPr sz="2800" dirty="0"/>
          </a:p>
        </p:txBody>
      </p:sp>
      <p:sp>
        <p:nvSpPr>
          <p:cNvPr id="15" name="Google Shape;92;p13">
            <a:extLst>
              <a:ext uri="{FF2B5EF4-FFF2-40B4-BE49-F238E27FC236}">
                <a16:creationId xmlns:a16="http://schemas.microsoft.com/office/drawing/2014/main" id="{A5559BCD-0F54-98A9-A9FA-63F45561ECC8}"/>
              </a:ext>
            </a:extLst>
          </p:cNvPr>
          <p:cNvSpPr/>
          <p:nvPr/>
        </p:nvSpPr>
        <p:spPr>
          <a:xfrm>
            <a:off x="9144000" y="6140335"/>
            <a:ext cx="7391400" cy="3291840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4AD49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ctr"/>
            <a:r>
              <a:rPr lang="en-US" sz="2800" b="1" dirty="0">
                <a:solidFill>
                  <a:srgbClr val="4AD498"/>
                </a:solidFill>
                <a:latin typeface="Calibri"/>
                <a:ea typeface="Calibri"/>
                <a:cs typeface="Calibri"/>
                <a:sym typeface="Calibri"/>
              </a:rPr>
              <a:t>THE PROMISE (CORE CAPABILITIES)</a:t>
            </a:r>
            <a:endParaRPr sz="2800" dirty="0"/>
          </a:p>
          <a:p>
            <a:br>
              <a:rPr lang="en-US" sz="2400" dirty="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dirty="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RAG Engine: "What did nursing organizations ask for regarding healthcare workforce retention?”</a:t>
            </a:r>
            <a:br>
              <a:rPr lang="en-US" sz="2400" dirty="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 dirty="0"/>
          </a:p>
          <a:p>
            <a:r>
              <a:rPr lang="en-US" sz="2400" dirty="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• Gap Analysis: "Which specific stakeholder asks made it into official recommendations, and which secured final funding commitments?"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027767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32FFBF-5BA7-844E-7044-0DDC55932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74F305-054B-7401-5ACF-DA217461F1D1}"/>
              </a:ext>
            </a:extLst>
          </p:cNvPr>
          <p:cNvSpPr txBox="1"/>
          <p:nvPr/>
        </p:nvSpPr>
        <p:spPr>
          <a:xfrm>
            <a:off x="914400" y="571500"/>
            <a:ext cx="14554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6000" b="1" i="0" u="none" strike="noStrike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Data Engineering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1BF4F3B-9CD5-D81E-97BC-28978E5BA185}"/>
              </a:ext>
            </a:extLst>
          </p:cNvPr>
          <p:cNvGrpSpPr/>
          <p:nvPr/>
        </p:nvGrpSpPr>
        <p:grpSpPr>
          <a:xfrm>
            <a:off x="310937" y="1889760"/>
            <a:ext cx="2760445" cy="1783080"/>
            <a:chOff x="394235" y="1952923"/>
            <a:chExt cx="2760445" cy="1783080"/>
          </a:xfrm>
        </p:grpSpPr>
        <p:sp>
          <p:nvSpPr>
            <p:cNvPr id="6" name="Google Shape;82;p6">
              <a:extLst>
                <a:ext uri="{FF2B5EF4-FFF2-40B4-BE49-F238E27FC236}">
                  <a16:creationId xmlns:a16="http://schemas.microsoft.com/office/drawing/2014/main" id="{69BD7C54-0610-5F21-91B7-A65A7BFEB87D}"/>
                </a:ext>
              </a:extLst>
            </p:cNvPr>
            <p:cNvSpPr/>
            <p:nvPr/>
          </p:nvSpPr>
          <p:spPr>
            <a:xfrm>
              <a:off x="394235" y="1952923"/>
              <a:ext cx="2493223" cy="1783080"/>
            </a:xfrm>
            <a:prstGeom prst="roundRect">
              <a:avLst>
                <a:gd name="adj" fmla="val 5128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3;p6">
              <a:extLst>
                <a:ext uri="{FF2B5EF4-FFF2-40B4-BE49-F238E27FC236}">
                  <a16:creationId xmlns:a16="http://schemas.microsoft.com/office/drawing/2014/main" id="{29F850E4-0680-162E-1572-49033FC48553}"/>
                </a:ext>
              </a:extLst>
            </p:cNvPr>
            <p:cNvSpPr/>
            <p:nvPr/>
          </p:nvSpPr>
          <p:spPr>
            <a:xfrm>
              <a:off x="841248" y="2167128"/>
              <a:ext cx="457200" cy="457200"/>
            </a:xfrm>
            <a:prstGeom prst="ellipse">
              <a:avLst/>
            </a:prstGeom>
            <a:solidFill>
              <a:srgbClr val="028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dirty="0"/>
            </a:p>
          </p:txBody>
        </p:sp>
        <p:sp>
          <p:nvSpPr>
            <p:cNvPr id="8" name="Google Shape;84;p6">
              <a:extLst>
                <a:ext uri="{FF2B5EF4-FFF2-40B4-BE49-F238E27FC236}">
                  <a16:creationId xmlns:a16="http://schemas.microsoft.com/office/drawing/2014/main" id="{7B374365-2DC1-8C77-50D6-D28303DD47A0}"/>
                </a:ext>
              </a:extLst>
            </p:cNvPr>
            <p:cNvSpPr/>
            <p:nvPr/>
          </p:nvSpPr>
          <p:spPr>
            <a:xfrm>
              <a:off x="841248" y="2167128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00"/>
                <a:buFont typeface="Cambria"/>
                <a:buNone/>
              </a:pPr>
              <a:r>
                <a:rPr lang="en-US" sz="2400" b="1" i="0" u="none" strike="noStrike" cap="none" dirty="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1</a:t>
              </a:r>
              <a:endParaRPr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85;p6">
              <a:extLst>
                <a:ext uri="{FF2B5EF4-FFF2-40B4-BE49-F238E27FC236}">
                  <a16:creationId xmlns:a16="http://schemas.microsoft.com/office/drawing/2014/main" id="{65D464C3-301F-E446-3866-65BC49308951}"/>
                </a:ext>
              </a:extLst>
            </p:cNvPr>
            <p:cNvSpPr/>
            <p:nvPr/>
          </p:nvSpPr>
          <p:spPr>
            <a:xfrm>
              <a:off x="1417320" y="2167128"/>
              <a:ext cx="17373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B2B2E"/>
                </a:buClr>
                <a:buSzPts val="1600"/>
                <a:buFont typeface="Cambria"/>
                <a:buNone/>
              </a:pPr>
              <a:r>
                <a:rPr lang="en-US" sz="2400" b="1" i="0" u="none" strike="noStrike" cap="none" dirty="0">
                  <a:solidFill>
                    <a:srgbClr val="1B2B2E"/>
                  </a:solidFill>
                  <a:latin typeface="Cambria"/>
                  <a:ea typeface="Cambria"/>
                  <a:cs typeface="Cambria"/>
                  <a:sym typeface="Cambria"/>
                </a:rPr>
                <a:t>Harvest</a:t>
              </a:r>
              <a:endParaRPr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86;p6">
              <a:extLst>
                <a:ext uri="{FF2B5EF4-FFF2-40B4-BE49-F238E27FC236}">
                  <a16:creationId xmlns:a16="http://schemas.microsoft.com/office/drawing/2014/main" id="{204A06D0-2023-36FA-6719-26415B48DB90}"/>
                </a:ext>
              </a:extLst>
            </p:cNvPr>
            <p:cNvSpPr/>
            <p:nvPr/>
          </p:nvSpPr>
          <p:spPr>
            <a:xfrm>
              <a:off x="692898" y="2743200"/>
              <a:ext cx="219456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7176"/>
                </a:buClr>
                <a:buSzPts val="1150"/>
                <a:buFont typeface="Calibri"/>
                <a:buNone/>
              </a:pPr>
              <a:r>
                <a:rPr lang="en-US" dirty="0">
                  <a:solidFill>
                    <a:srgbClr val="5B7176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lang="en-US" b="0" i="0" u="none" strike="noStrike" cap="none" dirty="0">
                  <a:solidFill>
                    <a:srgbClr val="5B7176"/>
                  </a:solidFill>
                  <a:latin typeface="Calibri"/>
                  <a:ea typeface="Calibri"/>
                  <a:cs typeface="Calibri"/>
                  <a:sym typeface="Calibri"/>
                </a:rPr>
                <a:t>crapers + whitelist,</a:t>
              </a:r>
              <a:endParaRPr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7176"/>
                </a:buClr>
                <a:buSzPts val="1150"/>
                <a:buFont typeface="Calibri"/>
                <a:buNone/>
              </a:pPr>
              <a:r>
                <a:rPr lang="en-US" b="0" i="0" u="none" strike="noStrike" cap="none" dirty="0">
                  <a:solidFill>
                    <a:srgbClr val="5B7176"/>
                  </a:solidFill>
                  <a:latin typeface="Calibri"/>
                  <a:ea typeface="Calibri"/>
                  <a:cs typeface="Calibri"/>
                  <a:sym typeface="Calibri"/>
                </a:rPr>
                <a:t>1 req/s, </a:t>
              </a:r>
              <a:r>
                <a:rPr lang="en-US" b="0" i="0" u="none" strike="noStrike" cap="none" dirty="0" err="1">
                  <a:solidFill>
                    <a:srgbClr val="5B7176"/>
                  </a:solidFill>
                  <a:latin typeface="Calibri"/>
                  <a:ea typeface="Calibri"/>
                  <a:cs typeface="Calibri"/>
                  <a:sym typeface="Calibri"/>
                </a:rPr>
                <a:t>manifest.jsonl</a:t>
              </a:r>
              <a:endParaRPr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F107A04-C4F7-22D1-1163-107DE38B9C9F}"/>
              </a:ext>
            </a:extLst>
          </p:cNvPr>
          <p:cNvGrpSpPr/>
          <p:nvPr/>
        </p:nvGrpSpPr>
        <p:grpSpPr>
          <a:xfrm>
            <a:off x="2880360" y="1874520"/>
            <a:ext cx="2606040" cy="1783080"/>
            <a:chOff x="3520440" y="1965960"/>
            <a:chExt cx="2606040" cy="1783080"/>
          </a:xfrm>
        </p:grpSpPr>
        <p:sp>
          <p:nvSpPr>
            <p:cNvPr id="11" name="Google Shape;87;p6">
              <a:extLst>
                <a:ext uri="{FF2B5EF4-FFF2-40B4-BE49-F238E27FC236}">
                  <a16:creationId xmlns:a16="http://schemas.microsoft.com/office/drawing/2014/main" id="{EFCBA1BC-1170-8DE5-66FC-6630E49FE7B7}"/>
                </a:ext>
              </a:extLst>
            </p:cNvPr>
            <p:cNvSpPr/>
            <p:nvPr/>
          </p:nvSpPr>
          <p:spPr>
            <a:xfrm>
              <a:off x="3520440" y="1965960"/>
              <a:ext cx="2606040" cy="1783080"/>
            </a:xfrm>
            <a:prstGeom prst="roundRect">
              <a:avLst>
                <a:gd name="adj" fmla="val 5128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/>
            </a:p>
          </p:txBody>
        </p:sp>
        <p:sp>
          <p:nvSpPr>
            <p:cNvPr id="12" name="Google Shape;88;p6">
              <a:extLst>
                <a:ext uri="{FF2B5EF4-FFF2-40B4-BE49-F238E27FC236}">
                  <a16:creationId xmlns:a16="http://schemas.microsoft.com/office/drawing/2014/main" id="{19B228FD-88E1-C8F5-5F20-D4986A64587A}"/>
                </a:ext>
              </a:extLst>
            </p:cNvPr>
            <p:cNvSpPr/>
            <p:nvPr/>
          </p:nvSpPr>
          <p:spPr>
            <a:xfrm>
              <a:off x="3721608" y="2167128"/>
              <a:ext cx="457200" cy="457200"/>
            </a:xfrm>
            <a:prstGeom prst="ellipse">
              <a:avLst/>
            </a:prstGeom>
            <a:solidFill>
              <a:srgbClr val="028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/>
            </a:p>
          </p:txBody>
        </p:sp>
        <p:sp>
          <p:nvSpPr>
            <p:cNvPr id="13" name="Google Shape;89;p6">
              <a:extLst>
                <a:ext uri="{FF2B5EF4-FFF2-40B4-BE49-F238E27FC236}">
                  <a16:creationId xmlns:a16="http://schemas.microsoft.com/office/drawing/2014/main" id="{3EC14CDA-BC9C-C0F0-287A-9D798B79344D}"/>
                </a:ext>
              </a:extLst>
            </p:cNvPr>
            <p:cNvSpPr/>
            <p:nvPr/>
          </p:nvSpPr>
          <p:spPr>
            <a:xfrm>
              <a:off x="3721608" y="2167128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00"/>
                <a:buFont typeface="Cambria"/>
                <a:buNone/>
              </a:pPr>
              <a:r>
                <a:rPr lang="en-US" sz="2400" b="1" i="0" u="none" strike="noStrike" cap="non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2</a:t>
              </a: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90;p6">
              <a:extLst>
                <a:ext uri="{FF2B5EF4-FFF2-40B4-BE49-F238E27FC236}">
                  <a16:creationId xmlns:a16="http://schemas.microsoft.com/office/drawing/2014/main" id="{10CF955D-3206-86A1-DD1D-0C83F3E10D1F}"/>
                </a:ext>
              </a:extLst>
            </p:cNvPr>
            <p:cNvSpPr/>
            <p:nvPr/>
          </p:nvSpPr>
          <p:spPr>
            <a:xfrm>
              <a:off x="4297680" y="2167128"/>
              <a:ext cx="17373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B2B2E"/>
                </a:buClr>
                <a:buSzPts val="1600"/>
                <a:buFont typeface="Cambria"/>
                <a:buNone/>
              </a:pPr>
              <a:r>
                <a:rPr lang="en-US" sz="2400" b="1" i="0" u="none" strike="noStrike" cap="none" dirty="0">
                  <a:solidFill>
                    <a:srgbClr val="1B2B2E"/>
                  </a:solidFill>
                  <a:latin typeface="Cambria"/>
                  <a:ea typeface="Cambria"/>
                  <a:cs typeface="Cambria"/>
                  <a:sym typeface="Cambria"/>
                </a:rPr>
                <a:t>Extract</a:t>
              </a:r>
              <a:endParaRPr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91;p6">
              <a:extLst>
                <a:ext uri="{FF2B5EF4-FFF2-40B4-BE49-F238E27FC236}">
                  <a16:creationId xmlns:a16="http://schemas.microsoft.com/office/drawing/2014/main" id="{F0015BBF-DA01-FC1E-087F-A4811F0E850F}"/>
                </a:ext>
              </a:extLst>
            </p:cNvPr>
            <p:cNvSpPr/>
            <p:nvPr/>
          </p:nvSpPr>
          <p:spPr>
            <a:xfrm>
              <a:off x="3749040" y="2743200"/>
              <a:ext cx="219456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7176"/>
                </a:buClr>
                <a:buSzPts val="1150"/>
                <a:buFont typeface="Calibri"/>
                <a:buNone/>
              </a:pPr>
              <a:r>
                <a:rPr lang="en-US" b="0" i="0" u="none" strike="noStrike" cap="none" dirty="0">
                  <a:solidFill>
                    <a:srgbClr val="5B7176"/>
                  </a:solidFill>
                  <a:latin typeface="Calibri"/>
                  <a:ea typeface="Calibri"/>
                  <a:cs typeface="Calibri"/>
                  <a:sym typeface="Calibri"/>
                </a:rPr>
                <a:t>PDF + HTML router,</a:t>
              </a:r>
              <a:endParaRPr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7176"/>
                </a:buClr>
                <a:buSzPts val="1150"/>
                <a:buFont typeface="Calibri"/>
                <a:buNone/>
              </a:pPr>
              <a:r>
                <a:rPr lang="en-US" b="0" i="0" u="none" strike="noStrike" cap="none" dirty="0">
                  <a:solidFill>
                    <a:srgbClr val="5B7176"/>
                  </a:solidFill>
                  <a:latin typeface="Calibri"/>
                  <a:ea typeface="Calibri"/>
                  <a:cs typeface="Calibri"/>
                  <a:sym typeface="Calibri"/>
                </a:rPr>
                <a:t>[[page N]] markers, OCR layer</a:t>
              </a:r>
              <a:endParaRPr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ACD72BF-AFA7-8556-443C-0AB44F3212BD}"/>
              </a:ext>
            </a:extLst>
          </p:cNvPr>
          <p:cNvGrpSpPr/>
          <p:nvPr/>
        </p:nvGrpSpPr>
        <p:grpSpPr>
          <a:xfrm>
            <a:off x="5562600" y="1889760"/>
            <a:ext cx="2514600" cy="1783080"/>
            <a:chOff x="6400800" y="1965960"/>
            <a:chExt cx="2514600" cy="1783080"/>
          </a:xfrm>
        </p:grpSpPr>
        <p:sp>
          <p:nvSpPr>
            <p:cNvPr id="16" name="Google Shape;92;p6">
              <a:extLst>
                <a:ext uri="{FF2B5EF4-FFF2-40B4-BE49-F238E27FC236}">
                  <a16:creationId xmlns:a16="http://schemas.microsoft.com/office/drawing/2014/main" id="{A22C6A16-0ACE-766F-017F-962DEFC319E1}"/>
                </a:ext>
              </a:extLst>
            </p:cNvPr>
            <p:cNvSpPr/>
            <p:nvPr/>
          </p:nvSpPr>
          <p:spPr>
            <a:xfrm>
              <a:off x="6400800" y="1965960"/>
              <a:ext cx="2194560" cy="1783080"/>
            </a:xfrm>
            <a:prstGeom prst="roundRect">
              <a:avLst>
                <a:gd name="adj" fmla="val 5128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dirty="0"/>
            </a:p>
          </p:txBody>
        </p:sp>
        <p:sp>
          <p:nvSpPr>
            <p:cNvPr id="17" name="Google Shape;93;p6">
              <a:extLst>
                <a:ext uri="{FF2B5EF4-FFF2-40B4-BE49-F238E27FC236}">
                  <a16:creationId xmlns:a16="http://schemas.microsoft.com/office/drawing/2014/main" id="{37369ACC-E87D-AB9E-667B-46601D7C3519}"/>
                </a:ext>
              </a:extLst>
            </p:cNvPr>
            <p:cNvSpPr/>
            <p:nvPr/>
          </p:nvSpPr>
          <p:spPr>
            <a:xfrm>
              <a:off x="6601968" y="2167128"/>
              <a:ext cx="457200" cy="457200"/>
            </a:xfrm>
            <a:prstGeom prst="ellipse">
              <a:avLst/>
            </a:prstGeom>
            <a:solidFill>
              <a:srgbClr val="028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/>
            </a:p>
          </p:txBody>
        </p:sp>
        <p:sp>
          <p:nvSpPr>
            <p:cNvPr id="18" name="Google Shape;94;p6">
              <a:extLst>
                <a:ext uri="{FF2B5EF4-FFF2-40B4-BE49-F238E27FC236}">
                  <a16:creationId xmlns:a16="http://schemas.microsoft.com/office/drawing/2014/main" id="{10996989-A065-E108-2ABF-8C08F2D60B3A}"/>
                </a:ext>
              </a:extLst>
            </p:cNvPr>
            <p:cNvSpPr/>
            <p:nvPr/>
          </p:nvSpPr>
          <p:spPr>
            <a:xfrm>
              <a:off x="6601968" y="2167128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00"/>
                <a:buFont typeface="Cambria"/>
                <a:buNone/>
              </a:pPr>
              <a:r>
                <a:rPr lang="en-US" sz="2400" b="1" i="0" u="none" strike="noStrike" cap="non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3</a:t>
              </a: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95;p6">
              <a:extLst>
                <a:ext uri="{FF2B5EF4-FFF2-40B4-BE49-F238E27FC236}">
                  <a16:creationId xmlns:a16="http://schemas.microsoft.com/office/drawing/2014/main" id="{AC03C3E8-3578-54E4-3335-D8F27A84DCB6}"/>
                </a:ext>
              </a:extLst>
            </p:cNvPr>
            <p:cNvSpPr/>
            <p:nvPr/>
          </p:nvSpPr>
          <p:spPr>
            <a:xfrm>
              <a:off x="7178040" y="2167128"/>
              <a:ext cx="17373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B2B2E"/>
                </a:buClr>
                <a:buSzPts val="1600"/>
                <a:buFont typeface="Cambria"/>
                <a:buNone/>
              </a:pPr>
              <a:r>
                <a:rPr lang="en-US" sz="2400" b="1" i="0" u="none" strike="noStrike" cap="none">
                  <a:solidFill>
                    <a:srgbClr val="1B2B2E"/>
                  </a:solidFill>
                  <a:latin typeface="Cambria"/>
                  <a:ea typeface="Cambria"/>
                  <a:cs typeface="Cambria"/>
                  <a:sym typeface="Cambria"/>
                </a:rPr>
                <a:t>Clean</a:t>
              </a: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96;p6">
              <a:extLst>
                <a:ext uri="{FF2B5EF4-FFF2-40B4-BE49-F238E27FC236}">
                  <a16:creationId xmlns:a16="http://schemas.microsoft.com/office/drawing/2014/main" id="{A7E1481F-7C8C-9B79-0CEF-F466D3F0E0B6}"/>
                </a:ext>
              </a:extLst>
            </p:cNvPr>
            <p:cNvSpPr/>
            <p:nvPr/>
          </p:nvSpPr>
          <p:spPr>
            <a:xfrm>
              <a:off x="6629400" y="2743200"/>
              <a:ext cx="219456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7176"/>
                </a:buClr>
                <a:buSzPts val="1150"/>
                <a:buFont typeface="Calibri"/>
                <a:buNone/>
              </a:pPr>
              <a:r>
                <a:rPr lang="en-US" dirty="0">
                  <a:solidFill>
                    <a:srgbClr val="5B7176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r>
                <a:rPr lang="en-US" b="0" i="0" u="none" strike="noStrike" cap="none" dirty="0">
                  <a:solidFill>
                    <a:srgbClr val="5B7176"/>
                  </a:solidFill>
                  <a:latin typeface="Calibri"/>
                  <a:ea typeface="Calibri"/>
                  <a:cs typeface="Calibri"/>
                  <a:sym typeface="Calibri"/>
                </a:rPr>
                <a:t>eaders/footers, boilerplate,</a:t>
              </a:r>
              <a:endParaRPr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7176"/>
                </a:buClr>
                <a:buSzPts val="1150"/>
                <a:buFont typeface="Calibri"/>
                <a:buNone/>
              </a:pPr>
              <a:r>
                <a:rPr lang="en-US" b="0" i="0" u="none" strike="noStrike" cap="none" dirty="0">
                  <a:solidFill>
                    <a:srgbClr val="5B7176"/>
                  </a:solidFill>
                  <a:latin typeface="Calibri"/>
                  <a:ea typeface="Calibri"/>
                  <a:cs typeface="Calibri"/>
                  <a:sym typeface="Calibri"/>
                </a:rPr>
                <a:t>contact scrubbing</a:t>
              </a:r>
              <a:endParaRPr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A790082-C7CA-99DB-48DA-39749C825C17}"/>
              </a:ext>
            </a:extLst>
          </p:cNvPr>
          <p:cNvGrpSpPr/>
          <p:nvPr/>
        </p:nvGrpSpPr>
        <p:grpSpPr>
          <a:xfrm>
            <a:off x="7848600" y="1874520"/>
            <a:ext cx="2682240" cy="1783080"/>
            <a:chOff x="9281160" y="1965960"/>
            <a:chExt cx="2682240" cy="1783080"/>
          </a:xfrm>
        </p:grpSpPr>
        <p:sp>
          <p:nvSpPr>
            <p:cNvPr id="21" name="Google Shape;97;p6">
              <a:extLst>
                <a:ext uri="{FF2B5EF4-FFF2-40B4-BE49-F238E27FC236}">
                  <a16:creationId xmlns:a16="http://schemas.microsoft.com/office/drawing/2014/main" id="{9FD2B7D1-6BFD-F6DA-98C4-35DB1B5B0F7F}"/>
                </a:ext>
              </a:extLst>
            </p:cNvPr>
            <p:cNvSpPr/>
            <p:nvPr/>
          </p:nvSpPr>
          <p:spPr>
            <a:xfrm>
              <a:off x="9281160" y="1965960"/>
              <a:ext cx="2606040" cy="1783080"/>
            </a:xfrm>
            <a:prstGeom prst="roundRect">
              <a:avLst>
                <a:gd name="adj" fmla="val 5128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/>
            </a:p>
          </p:txBody>
        </p:sp>
        <p:sp>
          <p:nvSpPr>
            <p:cNvPr id="22" name="Google Shape;98;p6">
              <a:extLst>
                <a:ext uri="{FF2B5EF4-FFF2-40B4-BE49-F238E27FC236}">
                  <a16:creationId xmlns:a16="http://schemas.microsoft.com/office/drawing/2014/main" id="{AD6F53C5-FD5F-0436-ACF0-FD408F13EC79}"/>
                </a:ext>
              </a:extLst>
            </p:cNvPr>
            <p:cNvSpPr/>
            <p:nvPr/>
          </p:nvSpPr>
          <p:spPr>
            <a:xfrm>
              <a:off x="9482328" y="2167128"/>
              <a:ext cx="457200" cy="457200"/>
            </a:xfrm>
            <a:prstGeom prst="ellipse">
              <a:avLst/>
            </a:prstGeom>
            <a:solidFill>
              <a:srgbClr val="028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/>
            </a:p>
          </p:txBody>
        </p:sp>
        <p:sp>
          <p:nvSpPr>
            <p:cNvPr id="23" name="Google Shape;99;p6">
              <a:extLst>
                <a:ext uri="{FF2B5EF4-FFF2-40B4-BE49-F238E27FC236}">
                  <a16:creationId xmlns:a16="http://schemas.microsoft.com/office/drawing/2014/main" id="{C4A7E4A9-3430-85D3-B06E-FBED5BC27665}"/>
                </a:ext>
              </a:extLst>
            </p:cNvPr>
            <p:cNvSpPr/>
            <p:nvPr/>
          </p:nvSpPr>
          <p:spPr>
            <a:xfrm>
              <a:off x="9482328" y="2167128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00"/>
                <a:buFont typeface="Cambria"/>
                <a:buNone/>
              </a:pPr>
              <a:r>
                <a:rPr lang="en-US" sz="2400" b="1" i="0" u="none" strike="noStrike" cap="non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4</a:t>
              </a: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00;p6">
              <a:extLst>
                <a:ext uri="{FF2B5EF4-FFF2-40B4-BE49-F238E27FC236}">
                  <a16:creationId xmlns:a16="http://schemas.microsoft.com/office/drawing/2014/main" id="{AF8EE6E8-85B6-57F5-EDC5-9DBB966FC2AB}"/>
                </a:ext>
              </a:extLst>
            </p:cNvPr>
            <p:cNvSpPr/>
            <p:nvPr/>
          </p:nvSpPr>
          <p:spPr>
            <a:xfrm>
              <a:off x="10058400" y="2167128"/>
              <a:ext cx="17373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B2B2E"/>
                </a:buClr>
                <a:buSzPts val="1600"/>
                <a:buFont typeface="Cambria"/>
                <a:buNone/>
              </a:pPr>
              <a:r>
                <a:rPr lang="en-US" sz="2400" b="1" i="0" u="none" strike="noStrike" cap="none">
                  <a:solidFill>
                    <a:srgbClr val="1B2B2E"/>
                  </a:solidFill>
                  <a:latin typeface="Cambria"/>
                  <a:ea typeface="Cambria"/>
                  <a:cs typeface="Cambria"/>
                  <a:sym typeface="Cambria"/>
                </a:rPr>
                <a:t>Dedupe</a:t>
              </a: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01;p6">
              <a:extLst>
                <a:ext uri="{FF2B5EF4-FFF2-40B4-BE49-F238E27FC236}">
                  <a16:creationId xmlns:a16="http://schemas.microsoft.com/office/drawing/2014/main" id="{35A18D81-B869-1A38-B4C1-F002C957D3AD}"/>
                </a:ext>
              </a:extLst>
            </p:cNvPr>
            <p:cNvSpPr/>
            <p:nvPr/>
          </p:nvSpPr>
          <p:spPr>
            <a:xfrm>
              <a:off x="9357360" y="2781300"/>
              <a:ext cx="260604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7176"/>
                </a:buClr>
                <a:buSzPts val="1150"/>
                <a:buFont typeface="Calibri"/>
                <a:buNone/>
              </a:pPr>
              <a:r>
                <a:rPr lang="en-US" dirty="0">
                  <a:solidFill>
                    <a:srgbClr val="5B7176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r>
                <a:rPr lang="en-US" b="0" i="0" u="none" strike="noStrike" cap="none" dirty="0">
                  <a:solidFill>
                    <a:srgbClr val="5B7176"/>
                  </a:solidFill>
                  <a:latin typeface="Calibri"/>
                  <a:ea typeface="Calibri"/>
                  <a:cs typeface="Calibri"/>
                  <a:sym typeface="Calibri"/>
                </a:rPr>
                <a:t>ash + embedding near-dups,</a:t>
              </a:r>
              <a:endParaRPr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7176"/>
                </a:buClr>
                <a:buSzPts val="1150"/>
                <a:buFont typeface="Calibri"/>
                <a:buNone/>
              </a:pPr>
              <a:r>
                <a:rPr lang="en-US" b="0" i="0" u="none" strike="noStrike" cap="none" dirty="0">
                  <a:solidFill>
                    <a:srgbClr val="5B7176"/>
                  </a:solidFill>
                  <a:latin typeface="Calibri"/>
                  <a:ea typeface="Calibri"/>
                  <a:cs typeface="Calibri"/>
                  <a:sym typeface="Calibri"/>
                </a:rPr>
                <a:t>clusters kept whole in splits</a:t>
              </a:r>
              <a:endParaRPr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7A2409C-89E1-642F-FB94-555183B13191}"/>
              </a:ext>
            </a:extLst>
          </p:cNvPr>
          <p:cNvGrpSpPr/>
          <p:nvPr/>
        </p:nvGrpSpPr>
        <p:grpSpPr>
          <a:xfrm>
            <a:off x="10591800" y="1874520"/>
            <a:ext cx="2724912" cy="1790700"/>
            <a:chOff x="2084832" y="4114800"/>
            <a:chExt cx="2724912" cy="1790700"/>
          </a:xfrm>
        </p:grpSpPr>
        <p:sp>
          <p:nvSpPr>
            <p:cNvPr id="26" name="Google Shape;102;p6">
              <a:extLst>
                <a:ext uri="{FF2B5EF4-FFF2-40B4-BE49-F238E27FC236}">
                  <a16:creationId xmlns:a16="http://schemas.microsoft.com/office/drawing/2014/main" id="{D55ADBC0-FD1B-DFF6-DDD3-F0EC698C9166}"/>
                </a:ext>
              </a:extLst>
            </p:cNvPr>
            <p:cNvSpPr/>
            <p:nvPr/>
          </p:nvSpPr>
          <p:spPr>
            <a:xfrm>
              <a:off x="2084832" y="4114800"/>
              <a:ext cx="2243328" cy="1783080"/>
            </a:xfrm>
            <a:prstGeom prst="roundRect">
              <a:avLst>
                <a:gd name="adj" fmla="val 5128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/>
            </a:p>
          </p:txBody>
        </p:sp>
        <p:sp>
          <p:nvSpPr>
            <p:cNvPr id="27" name="Google Shape;103;p6">
              <a:extLst>
                <a:ext uri="{FF2B5EF4-FFF2-40B4-BE49-F238E27FC236}">
                  <a16:creationId xmlns:a16="http://schemas.microsoft.com/office/drawing/2014/main" id="{153E9444-4E80-0317-235C-1468DEB055C7}"/>
                </a:ext>
              </a:extLst>
            </p:cNvPr>
            <p:cNvSpPr/>
            <p:nvPr/>
          </p:nvSpPr>
          <p:spPr>
            <a:xfrm>
              <a:off x="2286000" y="4315968"/>
              <a:ext cx="457200" cy="457200"/>
            </a:xfrm>
            <a:prstGeom prst="ellipse">
              <a:avLst/>
            </a:prstGeom>
            <a:solidFill>
              <a:srgbClr val="028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/>
            </a:p>
          </p:txBody>
        </p:sp>
        <p:sp>
          <p:nvSpPr>
            <p:cNvPr id="28" name="Google Shape;104;p6">
              <a:extLst>
                <a:ext uri="{FF2B5EF4-FFF2-40B4-BE49-F238E27FC236}">
                  <a16:creationId xmlns:a16="http://schemas.microsoft.com/office/drawing/2014/main" id="{75CC651D-906F-4A0D-0169-2FD2C1A9497A}"/>
                </a:ext>
              </a:extLst>
            </p:cNvPr>
            <p:cNvSpPr/>
            <p:nvPr/>
          </p:nvSpPr>
          <p:spPr>
            <a:xfrm>
              <a:off x="2286000" y="4315968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00"/>
                <a:buFont typeface="Cambria"/>
                <a:buNone/>
              </a:pPr>
              <a:r>
                <a:rPr lang="en-US" sz="2400" b="1" i="0" u="none" strike="noStrike" cap="none" dirty="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5</a:t>
              </a:r>
              <a:endParaRPr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105;p6">
              <a:extLst>
                <a:ext uri="{FF2B5EF4-FFF2-40B4-BE49-F238E27FC236}">
                  <a16:creationId xmlns:a16="http://schemas.microsoft.com/office/drawing/2014/main" id="{F11A111E-5BD0-0B3E-3A50-53EB47F2EA5D}"/>
                </a:ext>
              </a:extLst>
            </p:cNvPr>
            <p:cNvSpPr/>
            <p:nvPr/>
          </p:nvSpPr>
          <p:spPr>
            <a:xfrm>
              <a:off x="2862072" y="4315968"/>
              <a:ext cx="1947672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B2B2E"/>
                </a:buClr>
                <a:buSzPts val="1600"/>
                <a:buFont typeface="Cambria"/>
                <a:buNone/>
              </a:pPr>
              <a:r>
                <a:rPr lang="en-US" sz="2400" b="1" i="0" u="none" strike="noStrike" cap="none" dirty="0">
                  <a:solidFill>
                    <a:srgbClr val="1B2B2E"/>
                  </a:solidFill>
                  <a:latin typeface="Cambria"/>
                  <a:ea typeface="Cambria"/>
                  <a:cs typeface="Cambria"/>
                  <a:sym typeface="Cambria"/>
                </a:rPr>
                <a:t>Label 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B2B2E"/>
                </a:buClr>
                <a:buSzPts val="1600"/>
                <a:buFont typeface="Cambria"/>
                <a:buNone/>
              </a:pPr>
              <a:r>
                <a:rPr lang="en-US" sz="2400" b="1" i="0" u="none" strike="noStrike" cap="none" dirty="0">
                  <a:solidFill>
                    <a:srgbClr val="1B2B2E"/>
                  </a:solidFill>
                  <a:latin typeface="Cambria"/>
                  <a:ea typeface="Cambria"/>
                  <a:cs typeface="Cambria"/>
                  <a:sym typeface="Cambria"/>
                </a:rPr>
                <a:t>(weak)</a:t>
              </a:r>
              <a:endParaRPr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106;p6">
              <a:extLst>
                <a:ext uri="{FF2B5EF4-FFF2-40B4-BE49-F238E27FC236}">
                  <a16:creationId xmlns:a16="http://schemas.microsoft.com/office/drawing/2014/main" id="{841BD562-69ED-6506-7B90-29CBD6A192B0}"/>
                </a:ext>
              </a:extLst>
            </p:cNvPr>
            <p:cNvSpPr/>
            <p:nvPr/>
          </p:nvSpPr>
          <p:spPr>
            <a:xfrm>
              <a:off x="2133600" y="4991100"/>
              <a:ext cx="219456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7176"/>
                </a:buClr>
                <a:buSzPts val="1150"/>
                <a:buFont typeface="Calibri"/>
                <a:buNone/>
              </a:pPr>
              <a:r>
                <a:rPr lang="en-US" dirty="0">
                  <a:solidFill>
                    <a:srgbClr val="5B7176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b="0" i="0" u="none" strike="noStrike" cap="none" dirty="0">
                  <a:solidFill>
                    <a:srgbClr val="5B7176"/>
                  </a:solidFill>
                  <a:latin typeface="Calibri"/>
                  <a:ea typeface="Calibri"/>
                  <a:cs typeface="Calibri"/>
                  <a:sym typeface="Calibri"/>
                </a:rPr>
                <a:t>ontent-first keyword rules,</a:t>
              </a:r>
              <a:endParaRPr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7176"/>
                </a:buClr>
                <a:buSzPts val="1150"/>
                <a:buFont typeface="Calibri"/>
                <a:buNone/>
              </a:pPr>
              <a:r>
                <a:rPr lang="en-US" b="0" i="0" u="none" strike="noStrike" cap="none" dirty="0">
                  <a:solidFill>
                    <a:srgbClr val="5B7176"/>
                  </a:solidFill>
                  <a:latin typeface="Calibri"/>
                  <a:ea typeface="Calibri"/>
                  <a:cs typeface="Calibri"/>
                  <a:sym typeface="Calibri"/>
                </a:rPr>
                <a:t>strong keywords</a:t>
              </a:r>
              <a:endParaRPr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969F0B0-D986-AF8A-6005-B48394FB492F}"/>
              </a:ext>
            </a:extLst>
          </p:cNvPr>
          <p:cNvGrpSpPr/>
          <p:nvPr/>
        </p:nvGrpSpPr>
        <p:grpSpPr>
          <a:xfrm>
            <a:off x="12954000" y="1874520"/>
            <a:ext cx="2606040" cy="1783080"/>
            <a:chOff x="4965192" y="4114800"/>
            <a:chExt cx="2606040" cy="1783080"/>
          </a:xfrm>
        </p:grpSpPr>
        <p:sp>
          <p:nvSpPr>
            <p:cNvPr id="31" name="Google Shape;107;p6">
              <a:extLst>
                <a:ext uri="{FF2B5EF4-FFF2-40B4-BE49-F238E27FC236}">
                  <a16:creationId xmlns:a16="http://schemas.microsoft.com/office/drawing/2014/main" id="{D77E9FD0-02B7-EDB8-6ADE-F2A204ED89A4}"/>
                </a:ext>
              </a:extLst>
            </p:cNvPr>
            <p:cNvSpPr/>
            <p:nvPr/>
          </p:nvSpPr>
          <p:spPr>
            <a:xfrm>
              <a:off x="4965192" y="4114800"/>
              <a:ext cx="2606040" cy="1783080"/>
            </a:xfrm>
            <a:prstGeom prst="roundRect">
              <a:avLst>
                <a:gd name="adj" fmla="val 5128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dirty="0"/>
            </a:p>
          </p:txBody>
        </p:sp>
        <p:sp>
          <p:nvSpPr>
            <p:cNvPr id="32" name="Google Shape;108;p6">
              <a:extLst>
                <a:ext uri="{FF2B5EF4-FFF2-40B4-BE49-F238E27FC236}">
                  <a16:creationId xmlns:a16="http://schemas.microsoft.com/office/drawing/2014/main" id="{04561249-E329-D38D-7DE5-6794299FF54D}"/>
                </a:ext>
              </a:extLst>
            </p:cNvPr>
            <p:cNvSpPr/>
            <p:nvPr/>
          </p:nvSpPr>
          <p:spPr>
            <a:xfrm>
              <a:off x="5166360" y="4315968"/>
              <a:ext cx="457200" cy="457200"/>
            </a:xfrm>
            <a:prstGeom prst="ellipse">
              <a:avLst/>
            </a:prstGeom>
            <a:solidFill>
              <a:srgbClr val="028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/>
            </a:p>
          </p:txBody>
        </p:sp>
        <p:sp>
          <p:nvSpPr>
            <p:cNvPr id="33" name="Google Shape;109;p6">
              <a:extLst>
                <a:ext uri="{FF2B5EF4-FFF2-40B4-BE49-F238E27FC236}">
                  <a16:creationId xmlns:a16="http://schemas.microsoft.com/office/drawing/2014/main" id="{7A18E965-E601-B1CE-95AC-0B57832B9BD3}"/>
                </a:ext>
              </a:extLst>
            </p:cNvPr>
            <p:cNvSpPr/>
            <p:nvPr/>
          </p:nvSpPr>
          <p:spPr>
            <a:xfrm>
              <a:off x="5166360" y="4315968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00"/>
                <a:buFont typeface="Cambria"/>
                <a:buNone/>
              </a:pPr>
              <a:r>
                <a:rPr lang="en-US" sz="2400" b="1" i="0" u="none" strike="noStrike" cap="non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6</a:t>
              </a: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110;p6">
              <a:extLst>
                <a:ext uri="{FF2B5EF4-FFF2-40B4-BE49-F238E27FC236}">
                  <a16:creationId xmlns:a16="http://schemas.microsoft.com/office/drawing/2014/main" id="{A414A913-5646-36DC-8691-68ED2610C051}"/>
                </a:ext>
              </a:extLst>
            </p:cNvPr>
            <p:cNvSpPr/>
            <p:nvPr/>
          </p:nvSpPr>
          <p:spPr>
            <a:xfrm>
              <a:off x="5742432" y="4315968"/>
              <a:ext cx="17373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B2B2E"/>
                </a:buClr>
                <a:buSzPts val="1600"/>
                <a:buFont typeface="Cambria"/>
                <a:buNone/>
              </a:pPr>
              <a:r>
                <a:rPr lang="en-US" sz="2400" b="1" i="0" u="none" strike="noStrike" cap="none">
                  <a:solidFill>
                    <a:srgbClr val="1B2B2E"/>
                  </a:solidFill>
                  <a:latin typeface="Cambria"/>
                  <a:ea typeface="Cambria"/>
                  <a:cs typeface="Cambria"/>
                  <a:sym typeface="Cambria"/>
                </a:rPr>
                <a:t>Cards</a:t>
              </a: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111;p6">
              <a:extLst>
                <a:ext uri="{FF2B5EF4-FFF2-40B4-BE49-F238E27FC236}">
                  <a16:creationId xmlns:a16="http://schemas.microsoft.com/office/drawing/2014/main" id="{608EE436-C847-A520-2BDA-D29D1AEFB65A}"/>
                </a:ext>
              </a:extLst>
            </p:cNvPr>
            <p:cNvSpPr/>
            <p:nvPr/>
          </p:nvSpPr>
          <p:spPr>
            <a:xfrm>
              <a:off x="5193792" y="4892040"/>
              <a:ext cx="219456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7176"/>
                </a:buClr>
                <a:buSzPts val="1150"/>
                <a:buFont typeface="Calibri"/>
                <a:buNone/>
              </a:pPr>
              <a:r>
                <a:rPr lang="en-US" dirty="0">
                  <a:solidFill>
                    <a:srgbClr val="5B7176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lang="en-US" b="0" i="0" u="none" strike="noStrike" cap="none" dirty="0">
                  <a:solidFill>
                    <a:srgbClr val="5B7176"/>
                  </a:solidFill>
                  <a:latin typeface="Calibri"/>
                  <a:ea typeface="Calibri"/>
                  <a:cs typeface="Calibri"/>
                  <a:sym typeface="Calibri"/>
                </a:rPr>
                <a:t>itle + first 250 words,</a:t>
              </a:r>
              <a:endParaRPr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7176"/>
                </a:buClr>
                <a:buSzPts val="1150"/>
                <a:buFont typeface="Calibri"/>
                <a:buNone/>
              </a:pPr>
              <a:r>
                <a:rPr lang="en-US" b="0" i="0" u="none" strike="noStrike" cap="none" dirty="0">
                  <a:solidFill>
                    <a:srgbClr val="5B7176"/>
                  </a:solidFill>
                  <a:latin typeface="Calibri"/>
                  <a:ea typeface="Calibri"/>
                  <a:cs typeface="Calibri"/>
                  <a:sym typeface="Calibri"/>
                </a:rPr>
                <a:t>[ORG]-masked — leak-proof inputs</a:t>
              </a:r>
              <a:endParaRPr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C6CE0EF-2C7D-676A-25E4-A5FBC9EABE25}"/>
              </a:ext>
            </a:extLst>
          </p:cNvPr>
          <p:cNvGrpSpPr/>
          <p:nvPr/>
        </p:nvGrpSpPr>
        <p:grpSpPr>
          <a:xfrm>
            <a:off x="15697200" y="1866900"/>
            <a:ext cx="2514600" cy="1783080"/>
            <a:chOff x="7845552" y="4114800"/>
            <a:chExt cx="2514600" cy="1783080"/>
          </a:xfrm>
        </p:grpSpPr>
        <p:sp>
          <p:nvSpPr>
            <p:cNvPr id="36" name="Google Shape;112;p6">
              <a:extLst>
                <a:ext uri="{FF2B5EF4-FFF2-40B4-BE49-F238E27FC236}">
                  <a16:creationId xmlns:a16="http://schemas.microsoft.com/office/drawing/2014/main" id="{D5A61685-CAAB-60AF-42BE-DB9088990600}"/>
                </a:ext>
              </a:extLst>
            </p:cNvPr>
            <p:cNvSpPr/>
            <p:nvPr/>
          </p:nvSpPr>
          <p:spPr>
            <a:xfrm>
              <a:off x="7845552" y="4114800"/>
              <a:ext cx="2239347" cy="1783080"/>
            </a:xfrm>
            <a:prstGeom prst="roundRect">
              <a:avLst>
                <a:gd name="adj" fmla="val 5128"/>
              </a:avLst>
            </a:prstGeom>
            <a:solidFill>
              <a:srgbClr val="063A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dirty="0"/>
            </a:p>
          </p:txBody>
        </p:sp>
        <p:sp>
          <p:nvSpPr>
            <p:cNvPr id="37" name="Google Shape;113;p6">
              <a:extLst>
                <a:ext uri="{FF2B5EF4-FFF2-40B4-BE49-F238E27FC236}">
                  <a16:creationId xmlns:a16="http://schemas.microsoft.com/office/drawing/2014/main" id="{0FC30240-224B-2BC5-C167-039E5E898322}"/>
                </a:ext>
              </a:extLst>
            </p:cNvPr>
            <p:cNvSpPr/>
            <p:nvPr/>
          </p:nvSpPr>
          <p:spPr>
            <a:xfrm>
              <a:off x="8046720" y="4315968"/>
              <a:ext cx="457200" cy="457200"/>
            </a:xfrm>
            <a:prstGeom prst="ellipse">
              <a:avLst/>
            </a:prstGeom>
            <a:solidFill>
              <a:srgbClr val="02C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/>
            </a:p>
          </p:txBody>
        </p:sp>
        <p:sp>
          <p:nvSpPr>
            <p:cNvPr id="38" name="Google Shape;114;p6">
              <a:extLst>
                <a:ext uri="{FF2B5EF4-FFF2-40B4-BE49-F238E27FC236}">
                  <a16:creationId xmlns:a16="http://schemas.microsoft.com/office/drawing/2014/main" id="{80A6AAB6-7DA7-FD1F-DB86-107FFEA1DCF2}"/>
                </a:ext>
              </a:extLst>
            </p:cNvPr>
            <p:cNvSpPr/>
            <p:nvPr/>
          </p:nvSpPr>
          <p:spPr>
            <a:xfrm>
              <a:off x="8046720" y="4315968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63A42"/>
                </a:buClr>
                <a:buSzPts val="1700"/>
                <a:buFont typeface="Cambria"/>
                <a:buNone/>
              </a:pPr>
              <a:r>
                <a:rPr lang="en-US" sz="2400" b="1" i="0" u="none" strike="noStrike" cap="none" dirty="0">
                  <a:solidFill>
                    <a:srgbClr val="063A42"/>
                  </a:solidFill>
                  <a:latin typeface="Cambria"/>
                  <a:ea typeface="Cambria"/>
                  <a:cs typeface="Cambria"/>
                  <a:sym typeface="Cambria"/>
                </a:rPr>
                <a:t>7</a:t>
              </a:r>
              <a:endParaRPr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115;p6">
              <a:extLst>
                <a:ext uri="{FF2B5EF4-FFF2-40B4-BE49-F238E27FC236}">
                  <a16:creationId xmlns:a16="http://schemas.microsoft.com/office/drawing/2014/main" id="{F3ABD8F6-B089-A3CD-AAFA-06FBE80E200B}"/>
                </a:ext>
              </a:extLst>
            </p:cNvPr>
            <p:cNvSpPr/>
            <p:nvPr/>
          </p:nvSpPr>
          <p:spPr>
            <a:xfrm>
              <a:off x="8622792" y="4315968"/>
              <a:ext cx="17373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mbria"/>
                <a:buNone/>
              </a:pPr>
              <a:r>
                <a:rPr lang="en-US" sz="2400" b="1" i="0" u="none" strike="noStrike" cap="none" dirty="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Gold set</a:t>
              </a:r>
              <a:endParaRPr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116;p6">
              <a:extLst>
                <a:ext uri="{FF2B5EF4-FFF2-40B4-BE49-F238E27FC236}">
                  <a16:creationId xmlns:a16="http://schemas.microsoft.com/office/drawing/2014/main" id="{A87D34DB-48A5-85E1-6D8B-F9C00352459B}"/>
                </a:ext>
              </a:extLst>
            </p:cNvPr>
            <p:cNvSpPr/>
            <p:nvPr/>
          </p:nvSpPr>
          <p:spPr>
            <a:xfrm>
              <a:off x="7921752" y="4892040"/>
              <a:ext cx="219456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E3E0"/>
                </a:buClr>
                <a:buSzPts val="1150"/>
                <a:buFont typeface="Calibri"/>
                <a:buNone/>
              </a:pPr>
              <a:r>
                <a:rPr lang="en-US" b="0" i="0" u="none" strike="noStrike" cap="none" dirty="0">
                  <a:solidFill>
                    <a:srgbClr val="BFE3E0"/>
                  </a:solidFill>
                  <a:latin typeface="Calibri"/>
                  <a:ea typeface="Calibri"/>
                  <a:cs typeface="Calibri"/>
                  <a:sym typeface="Calibri"/>
                </a:rPr>
                <a:t>217 hand-labelled cards</a:t>
              </a:r>
              <a:r>
                <a:rPr lang="en-US" dirty="0">
                  <a:solidFill>
                    <a:srgbClr val="BFE3E0"/>
                  </a:solidFill>
                  <a:latin typeface="Calibri"/>
                  <a:ea typeface="Calibri"/>
                  <a:cs typeface="Calibri"/>
                  <a:sym typeface="Calibri"/>
                </a:rPr>
                <a:t> using </a:t>
              </a:r>
              <a:r>
                <a:rPr lang="en-US" b="0" i="0" u="none" strike="noStrike" cap="none" dirty="0">
                  <a:solidFill>
                    <a:srgbClr val="BFE3E0"/>
                  </a:solidFill>
                  <a:latin typeface="Calibri"/>
                  <a:ea typeface="Calibri"/>
                  <a:cs typeface="Calibri"/>
                  <a:sym typeface="Calibri"/>
                </a:rPr>
                <a:t>codebook</a:t>
              </a:r>
              <a:endParaRPr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707DBEA-BD4D-73E9-22B8-35457ADC94B9}"/>
              </a:ext>
            </a:extLst>
          </p:cNvPr>
          <p:cNvGrpSpPr/>
          <p:nvPr/>
        </p:nvGrpSpPr>
        <p:grpSpPr>
          <a:xfrm>
            <a:off x="609600" y="4373724"/>
            <a:ext cx="4343400" cy="5341776"/>
            <a:chOff x="609600" y="4373724"/>
            <a:chExt cx="3886200" cy="4960776"/>
          </a:xfrm>
        </p:grpSpPr>
        <p:sp>
          <p:nvSpPr>
            <p:cNvPr id="49" name="Google Shape;43;p4">
              <a:extLst>
                <a:ext uri="{FF2B5EF4-FFF2-40B4-BE49-F238E27FC236}">
                  <a16:creationId xmlns:a16="http://schemas.microsoft.com/office/drawing/2014/main" id="{1896A2E1-4E1A-BE7F-243E-1408EFD0A171}"/>
                </a:ext>
              </a:extLst>
            </p:cNvPr>
            <p:cNvSpPr/>
            <p:nvPr/>
          </p:nvSpPr>
          <p:spPr>
            <a:xfrm>
              <a:off x="609600" y="4373724"/>
              <a:ext cx="3886200" cy="4960776"/>
            </a:xfrm>
            <a:prstGeom prst="roundRect">
              <a:avLst>
                <a:gd name="adj" fmla="val 2759"/>
              </a:avLst>
            </a:prstGeom>
            <a:solidFill>
              <a:srgbClr val="EAF4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/>
            </a:p>
          </p:txBody>
        </p:sp>
        <p:sp>
          <p:nvSpPr>
            <p:cNvPr id="50" name="Google Shape;44;p4">
              <a:extLst>
                <a:ext uri="{FF2B5EF4-FFF2-40B4-BE49-F238E27FC236}">
                  <a16:creationId xmlns:a16="http://schemas.microsoft.com/office/drawing/2014/main" id="{7A755B4E-1505-B877-021D-477320EA801D}"/>
                </a:ext>
              </a:extLst>
            </p:cNvPr>
            <p:cNvSpPr/>
            <p:nvPr/>
          </p:nvSpPr>
          <p:spPr>
            <a:xfrm>
              <a:off x="741336" y="4648043"/>
              <a:ext cx="1518745" cy="7881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28090"/>
                </a:buClr>
                <a:buSzPts val="4000"/>
                <a:buFont typeface="Cambria"/>
                <a:buNone/>
              </a:pPr>
              <a:r>
                <a:rPr lang="en-US" sz="6600" b="1" i="0" u="none" strike="noStrike" cap="none" dirty="0">
                  <a:solidFill>
                    <a:srgbClr val="028090"/>
                  </a:solidFill>
                  <a:latin typeface="Cambria"/>
                  <a:ea typeface="Cambria"/>
                  <a:cs typeface="Cambria"/>
                  <a:sym typeface="Cambria"/>
                </a:rPr>
                <a:t>562</a:t>
              </a:r>
              <a:endParaRPr sz="6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45;p4">
              <a:extLst>
                <a:ext uri="{FF2B5EF4-FFF2-40B4-BE49-F238E27FC236}">
                  <a16:creationId xmlns:a16="http://schemas.microsoft.com/office/drawing/2014/main" id="{CFDF7074-5420-91E1-D671-F311F27D2E27}"/>
                </a:ext>
              </a:extLst>
            </p:cNvPr>
            <p:cNvSpPr/>
            <p:nvPr/>
          </p:nvSpPr>
          <p:spPr>
            <a:xfrm>
              <a:off x="2667000" y="4721195"/>
              <a:ext cx="1786759" cy="7881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B2B2E"/>
                </a:buClr>
                <a:buSzPts val="1250"/>
                <a:buFont typeface="Calibri"/>
                <a:buNone/>
              </a:pPr>
              <a:r>
                <a:rPr lang="en-US" sz="2400" b="0" i="0" u="none" strike="noStrike" cap="none" dirty="0">
                  <a:solidFill>
                    <a:srgbClr val="1B2B2E"/>
                  </a:solidFill>
                  <a:latin typeface="Calibri"/>
                  <a:ea typeface="Calibri"/>
                  <a:cs typeface="Calibri"/>
                  <a:sym typeface="Calibri"/>
                </a:rPr>
                <a:t>public documents harvested</a:t>
              </a:r>
              <a:endParaRPr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46;p4">
              <a:extLst>
                <a:ext uri="{FF2B5EF4-FFF2-40B4-BE49-F238E27FC236}">
                  <a16:creationId xmlns:a16="http://schemas.microsoft.com/office/drawing/2014/main" id="{7C9D1BDC-3E0E-E741-34DB-C22967B5DC6B}"/>
                </a:ext>
              </a:extLst>
            </p:cNvPr>
            <p:cNvSpPr/>
            <p:nvPr/>
          </p:nvSpPr>
          <p:spPr>
            <a:xfrm>
              <a:off x="741336" y="5818475"/>
              <a:ext cx="1518745" cy="7881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28090"/>
                </a:buClr>
                <a:buSzPts val="4000"/>
                <a:buFont typeface="Cambria"/>
                <a:buNone/>
              </a:pPr>
              <a:r>
                <a:rPr lang="en-US" sz="6600" b="1" i="0" u="none" strike="noStrike" cap="none">
                  <a:solidFill>
                    <a:srgbClr val="028090"/>
                  </a:solidFill>
                  <a:latin typeface="Cambria"/>
                  <a:ea typeface="Cambria"/>
                  <a:cs typeface="Cambria"/>
                  <a:sym typeface="Cambria"/>
                </a:rPr>
                <a:t>19</a:t>
              </a:r>
              <a:endParaRPr sz="6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47;p4">
              <a:extLst>
                <a:ext uri="{FF2B5EF4-FFF2-40B4-BE49-F238E27FC236}">
                  <a16:creationId xmlns:a16="http://schemas.microsoft.com/office/drawing/2014/main" id="{E9817BDF-C388-27C1-9BEE-44572244D0FE}"/>
                </a:ext>
              </a:extLst>
            </p:cNvPr>
            <p:cNvSpPr/>
            <p:nvPr/>
          </p:nvSpPr>
          <p:spPr>
            <a:xfrm>
              <a:off x="2667000" y="5891627"/>
              <a:ext cx="1786759" cy="7881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B2B2E"/>
                </a:buClr>
                <a:buSzPts val="125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1B2B2E"/>
                  </a:solidFill>
                  <a:latin typeface="Calibri"/>
                  <a:ea typeface="Calibri"/>
                  <a:cs typeface="Calibri"/>
                  <a:sym typeface="Calibri"/>
                </a:rPr>
                <a:t>HESA studies, 2 parliaments</a:t>
              </a: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48;p4">
              <a:extLst>
                <a:ext uri="{FF2B5EF4-FFF2-40B4-BE49-F238E27FC236}">
                  <a16:creationId xmlns:a16="http://schemas.microsoft.com/office/drawing/2014/main" id="{CD84C8B5-421C-D9C1-C11A-54859275B9D5}"/>
                </a:ext>
              </a:extLst>
            </p:cNvPr>
            <p:cNvSpPr/>
            <p:nvPr/>
          </p:nvSpPr>
          <p:spPr>
            <a:xfrm>
              <a:off x="741336" y="6988907"/>
              <a:ext cx="1518745" cy="7881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28090"/>
                </a:buClr>
                <a:buSzPts val="4000"/>
                <a:buFont typeface="Cambria"/>
                <a:buNone/>
              </a:pPr>
              <a:r>
                <a:rPr lang="en-US" sz="6600" b="1" i="0" u="none" strike="noStrike" cap="none">
                  <a:solidFill>
                    <a:srgbClr val="028090"/>
                  </a:solidFill>
                  <a:latin typeface="Cambria"/>
                  <a:ea typeface="Cambria"/>
                  <a:cs typeface="Cambria"/>
                  <a:sym typeface="Cambria"/>
                </a:rPr>
                <a:t>9</a:t>
              </a:r>
              <a:endParaRPr sz="6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49;p4">
              <a:extLst>
                <a:ext uri="{FF2B5EF4-FFF2-40B4-BE49-F238E27FC236}">
                  <a16:creationId xmlns:a16="http://schemas.microsoft.com/office/drawing/2014/main" id="{68CA97CE-810C-E11C-26BC-11FD81C99EC0}"/>
                </a:ext>
              </a:extLst>
            </p:cNvPr>
            <p:cNvSpPr/>
            <p:nvPr/>
          </p:nvSpPr>
          <p:spPr>
            <a:xfrm>
              <a:off x="2667000" y="7062059"/>
              <a:ext cx="1786759" cy="7881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B2B2E"/>
                </a:buClr>
                <a:buSzPts val="125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1B2B2E"/>
                  </a:solidFill>
                  <a:latin typeface="Calibri"/>
                  <a:ea typeface="Calibri"/>
                  <a:cs typeface="Calibri"/>
                  <a:sym typeface="Calibri"/>
                </a:rPr>
                <a:t>health-policy topics</a:t>
              </a:r>
              <a:endPara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0;p4">
              <a:extLst>
                <a:ext uri="{FF2B5EF4-FFF2-40B4-BE49-F238E27FC236}">
                  <a16:creationId xmlns:a16="http://schemas.microsoft.com/office/drawing/2014/main" id="{02D7723C-655B-42AF-F613-1162B557D8B9}"/>
                </a:ext>
              </a:extLst>
            </p:cNvPr>
            <p:cNvSpPr/>
            <p:nvPr/>
          </p:nvSpPr>
          <p:spPr>
            <a:xfrm>
              <a:off x="741336" y="8159339"/>
              <a:ext cx="1518745" cy="7881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28090"/>
                </a:buClr>
                <a:buSzPts val="4000"/>
                <a:buFont typeface="Cambria"/>
                <a:buNone/>
              </a:pPr>
              <a:r>
                <a:rPr lang="en-US" sz="6600" b="1" dirty="0">
                  <a:solidFill>
                    <a:srgbClr val="028090"/>
                  </a:solidFill>
                  <a:latin typeface="Cambria"/>
                  <a:ea typeface="Calibri"/>
                  <a:cs typeface="Calibri"/>
                  <a:sym typeface="Cambria"/>
                </a:rPr>
                <a:t>217</a:t>
              </a:r>
              <a:endParaRPr sz="6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1;p4">
              <a:extLst>
                <a:ext uri="{FF2B5EF4-FFF2-40B4-BE49-F238E27FC236}">
                  <a16:creationId xmlns:a16="http://schemas.microsoft.com/office/drawing/2014/main" id="{C7E05B60-19BF-4CB2-D3C8-1031D0E24F91}"/>
                </a:ext>
              </a:extLst>
            </p:cNvPr>
            <p:cNvSpPr/>
            <p:nvPr/>
          </p:nvSpPr>
          <p:spPr>
            <a:xfrm>
              <a:off x="2667000" y="8232491"/>
              <a:ext cx="1786759" cy="7881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B2B2E"/>
                </a:buClr>
                <a:buSzPts val="1250"/>
                <a:buFont typeface="Calibri"/>
                <a:buNone/>
              </a:pPr>
              <a:r>
                <a:rPr lang="en-US" sz="2400" b="0" i="0" u="none" strike="noStrike" cap="none" dirty="0">
                  <a:solidFill>
                    <a:srgbClr val="1B2B2E"/>
                  </a:solidFill>
                  <a:latin typeface="Calibri"/>
                  <a:ea typeface="Calibri"/>
                  <a:cs typeface="Calibri"/>
                  <a:sym typeface="Calibri"/>
                </a:rPr>
                <a:t>hand-labelled gold cards</a:t>
              </a:r>
              <a:endParaRPr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B88A3956-1FFF-9881-74A1-081CC80722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851395"/>
              </p:ext>
            </p:extLst>
          </p:nvPr>
        </p:nvGraphicFramePr>
        <p:xfrm>
          <a:off x="5906621" y="4303606"/>
          <a:ext cx="5664382" cy="5482011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179296">
                  <a:extLst>
                    <a:ext uri="{9D8B030D-6E8A-4147-A177-3AD203B41FA5}">
                      <a16:colId xmlns:a16="http://schemas.microsoft.com/office/drawing/2014/main" val="4275501677"/>
                    </a:ext>
                  </a:extLst>
                </a:gridCol>
                <a:gridCol w="2485086">
                  <a:extLst>
                    <a:ext uri="{9D8B030D-6E8A-4147-A177-3AD203B41FA5}">
                      <a16:colId xmlns:a16="http://schemas.microsoft.com/office/drawing/2014/main" val="1353565390"/>
                    </a:ext>
                  </a:extLst>
                </a:gridCol>
              </a:tblGrid>
              <a:tr h="784421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CA" sz="2400" b="1" dirty="0">
                          <a:effectLst/>
                        </a:rPr>
                        <a:t>Dataset / Corpus Split</a:t>
                      </a:r>
                      <a:endParaRPr lang="en-CA" sz="2400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CA" sz="2400" b="1" dirty="0">
                          <a:effectLst/>
                        </a:rPr>
                        <a:t>Count</a:t>
                      </a:r>
                      <a:endParaRPr lang="en-CA" sz="2400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158830228"/>
                  </a:ext>
                </a:extLst>
              </a:tr>
              <a:tr h="784421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CA" sz="2400" b="1" dirty="0">
                          <a:effectLst/>
                        </a:rPr>
                        <a:t>Raw documents harvested</a:t>
                      </a:r>
                      <a:endParaRPr lang="en-CA" sz="2400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CA" sz="2400">
                          <a:effectLst/>
                        </a:rPr>
                        <a:t>562</a:t>
                      </a:r>
                      <a:endParaRPr lang="en-CA" sz="240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402742611"/>
                  </a:ext>
                </a:extLst>
              </a:tr>
              <a:tr h="784421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CA" sz="2400" b="1">
                          <a:effectLst/>
                        </a:rPr>
                        <a:t>Extracted successfully</a:t>
                      </a:r>
                      <a:endParaRPr lang="en-CA" sz="240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CA" sz="2400" dirty="0">
                          <a:effectLst/>
                        </a:rPr>
                        <a:t>538</a:t>
                      </a:r>
                      <a:endParaRPr lang="en-CA" sz="2400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756230779"/>
                  </a:ext>
                </a:extLst>
              </a:tr>
              <a:tr h="784421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CA" sz="2400" b="1" dirty="0">
                          <a:effectLst/>
                        </a:rPr>
                        <a:t>Classifier corpus</a:t>
                      </a:r>
                      <a:r>
                        <a:rPr lang="en-CA" sz="2400" dirty="0">
                          <a:effectLst/>
                        </a:rPr>
                        <a:t> (briefs, </a:t>
                      </a:r>
                      <a:r>
                        <a:rPr lang="en-CA" sz="2400" dirty="0" err="1">
                          <a:effectLst/>
                        </a:rPr>
                        <a:t>corpus.csv</a:t>
                      </a:r>
                      <a:r>
                        <a:rPr lang="en-CA" sz="2400" dirty="0">
                          <a:effectLst/>
                        </a:rPr>
                        <a:t>)</a:t>
                      </a:r>
                      <a:endParaRPr lang="en-CA" sz="2400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CA" sz="2400">
                          <a:effectLst/>
                        </a:rPr>
                        <a:t>506</a:t>
                      </a:r>
                      <a:endParaRPr lang="en-CA" sz="240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311466124"/>
                  </a:ext>
                </a:extLst>
              </a:tr>
              <a:tr h="459833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CA" sz="2400" b="1" dirty="0">
                          <a:effectLst/>
                        </a:rPr>
                        <a:t>Train set</a:t>
                      </a:r>
                      <a:r>
                        <a:rPr lang="en-CA" sz="2400" dirty="0">
                          <a:effectLst/>
                        </a:rPr>
                        <a:t> (</a:t>
                      </a:r>
                      <a:r>
                        <a:rPr lang="en-CA" sz="2400" dirty="0" err="1">
                          <a:effectLst/>
                        </a:rPr>
                        <a:t>train.csv</a:t>
                      </a:r>
                      <a:r>
                        <a:rPr lang="en-CA" sz="2400" dirty="0">
                          <a:effectLst/>
                        </a:rPr>
                        <a:t>)</a:t>
                      </a:r>
                      <a:endParaRPr lang="en-CA" sz="2400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CA" sz="2400">
                          <a:effectLst/>
                        </a:rPr>
                        <a:t>258</a:t>
                      </a:r>
                      <a:endParaRPr lang="en-CA" sz="240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258990580"/>
                  </a:ext>
                </a:extLst>
              </a:tr>
              <a:tr h="1109009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CA" sz="2400" b="1" dirty="0">
                          <a:effectLst/>
                        </a:rPr>
                        <a:t>Gold-labeled docs / Test set</a:t>
                      </a:r>
                      <a:r>
                        <a:rPr lang="en-CA" sz="2400" dirty="0">
                          <a:effectLst/>
                        </a:rPr>
                        <a:t> (</a:t>
                      </a:r>
                      <a:r>
                        <a:rPr lang="en-CA" sz="2400" dirty="0" err="1">
                          <a:effectLst/>
                        </a:rPr>
                        <a:t>gold_test.csv</a:t>
                      </a:r>
                      <a:r>
                        <a:rPr lang="en-CA" sz="2400" dirty="0">
                          <a:effectLst/>
                        </a:rPr>
                        <a:t>)</a:t>
                      </a:r>
                      <a:endParaRPr lang="en-CA" sz="2400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CA" sz="2400">
                          <a:effectLst/>
                        </a:rPr>
                        <a:t>217</a:t>
                      </a:r>
                      <a:endParaRPr lang="en-CA" sz="240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67218720"/>
                  </a:ext>
                </a:extLst>
              </a:tr>
              <a:tr h="459833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CA" sz="2400" b="1" dirty="0">
                          <a:effectLst/>
                        </a:rPr>
                        <a:t>Dev set</a:t>
                      </a:r>
                      <a:r>
                        <a:rPr lang="en-CA" sz="2400" dirty="0">
                          <a:effectLst/>
                        </a:rPr>
                        <a:t> (</a:t>
                      </a:r>
                      <a:r>
                        <a:rPr lang="en-CA" sz="2400" dirty="0" err="1">
                          <a:effectLst/>
                        </a:rPr>
                        <a:t>dev.csv</a:t>
                      </a:r>
                      <a:r>
                        <a:rPr lang="en-CA" sz="2400" dirty="0">
                          <a:effectLst/>
                        </a:rPr>
                        <a:t>)</a:t>
                      </a:r>
                      <a:endParaRPr lang="en-CA" sz="2400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CA" sz="2400" dirty="0">
                          <a:effectLst/>
                        </a:rPr>
                        <a:t>28</a:t>
                      </a:r>
                      <a:endParaRPr lang="en-CA" sz="2400" dirty="0"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612139860"/>
                  </a:ext>
                </a:extLst>
              </a:tr>
            </a:tbl>
          </a:graphicData>
        </a:graphic>
      </p:graphicFrame>
      <p:pic>
        <p:nvPicPr>
          <p:cNvPr id="62" name="Picture 61">
            <a:extLst>
              <a:ext uri="{FF2B5EF4-FFF2-40B4-BE49-F238E27FC236}">
                <a16:creationId xmlns:a16="http://schemas.microsoft.com/office/drawing/2014/main" id="{D9C6DC93-EA06-E66E-F501-640F3CEB7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0" y="3851148"/>
            <a:ext cx="627380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565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8C7581-321D-D5C8-71A1-166E704DA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>
            <a:extLst>
              <a:ext uri="{FF2B5EF4-FFF2-40B4-BE49-F238E27FC236}">
                <a16:creationId xmlns:a16="http://schemas.microsoft.com/office/drawing/2014/main" id="{4B5861CF-15AA-478C-9D17-FAB0A996E2CE}"/>
              </a:ext>
            </a:extLst>
          </p:cNvPr>
          <p:cNvSpPr/>
          <p:nvPr/>
        </p:nvSpPr>
        <p:spPr>
          <a:xfrm>
            <a:off x="508323" y="134291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corpus, two questions</a:t>
            </a:r>
            <a:endParaRPr lang="en-US" sz="4400" dirty="0">
              <a:solidFill>
                <a:schemeClr val="tx2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8F72BB1-2F4A-F549-E9CE-3A1D02CF7EE3}"/>
              </a:ext>
            </a:extLst>
          </p:cNvPr>
          <p:cNvGrpSpPr/>
          <p:nvPr/>
        </p:nvGrpSpPr>
        <p:grpSpPr>
          <a:xfrm>
            <a:off x="5410200" y="952501"/>
            <a:ext cx="5818632" cy="1715225"/>
            <a:chOff x="4087368" y="1137924"/>
            <a:chExt cx="4023360" cy="737314"/>
          </a:xfrm>
        </p:grpSpPr>
        <p:sp>
          <p:nvSpPr>
            <p:cNvPr id="19" name="Shape 1">
              <a:extLst>
                <a:ext uri="{FF2B5EF4-FFF2-40B4-BE49-F238E27FC236}">
                  <a16:creationId xmlns:a16="http://schemas.microsoft.com/office/drawing/2014/main" id="{88A8B0C0-6365-252D-7805-AE56BFABD615}"/>
                </a:ext>
              </a:extLst>
            </p:cNvPr>
            <p:cNvSpPr/>
            <p:nvPr/>
          </p:nvSpPr>
          <p:spPr>
            <a:xfrm>
              <a:off x="4087368" y="1143000"/>
              <a:ext cx="4023360" cy="732238"/>
            </a:xfrm>
            <a:prstGeom prst="roundRect">
              <a:avLst>
                <a:gd name="adj" fmla="val 10526"/>
              </a:avLst>
            </a:prstGeom>
            <a:solidFill>
              <a:srgbClr val="063A42"/>
            </a:solidFill>
            <a:ln/>
          </p:spPr>
          <p:txBody>
            <a:bodyPr/>
            <a:lstStyle/>
            <a:p>
              <a:endParaRPr lang="en-US" sz="2400" dirty="0"/>
            </a:p>
          </p:txBody>
        </p:sp>
        <p:sp>
          <p:nvSpPr>
            <p:cNvPr id="20" name="Text 2">
              <a:extLst>
                <a:ext uri="{FF2B5EF4-FFF2-40B4-BE49-F238E27FC236}">
                  <a16:creationId xmlns:a16="http://schemas.microsoft.com/office/drawing/2014/main" id="{DF00DDDE-1DEB-34C0-8022-73B81F46F9CF}"/>
                </a:ext>
              </a:extLst>
            </p:cNvPr>
            <p:cNvSpPr/>
            <p:nvPr/>
          </p:nvSpPr>
          <p:spPr>
            <a:xfrm>
              <a:off x="4270248" y="1137924"/>
              <a:ext cx="3657600" cy="6889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kern="0" spc="200" dirty="0">
                  <a:solidFill>
                    <a:srgbClr val="02C39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CORPUS</a:t>
              </a:r>
              <a:endParaRPr lang="en-US" sz="2400" dirty="0"/>
            </a:p>
            <a:p>
              <a:pPr marL="0" indent="0" algn="ctr">
                <a:buNone/>
              </a:pPr>
              <a:r>
                <a:rPr lang="en-US" sz="24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562 documents · briefs + reports + responses</a:t>
              </a:r>
              <a:endParaRPr lang="en-US" sz="2400" dirty="0"/>
            </a:p>
          </p:txBody>
        </p:sp>
      </p:grpSp>
      <p:sp>
        <p:nvSpPr>
          <p:cNvPr id="21" name="Shape 3">
            <a:extLst>
              <a:ext uri="{FF2B5EF4-FFF2-40B4-BE49-F238E27FC236}">
                <a16:creationId xmlns:a16="http://schemas.microsoft.com/office/drawing/2014/main" id="{77F2F272-7412-6225-AEEB-A7AD7229B27E}"/>
              </a:ext>
            </a:extLst>
          </p:cNvPr>
          <p:cNvSpPr/>
          <p:nvPr/>
        </p:nvSpPr>
        <p:spPr>
          <a:xfrm>
            <a:off x="3657600" y="5478780"/>
            <a:ext cx="0" cy="502920"/>
          </a:xfrm>
          <a:prstGeom prst="line">
            <a:avLst/>
          </a:prstGeom>
          <a:noFill/>
          <a:ln w="12700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190ED77A-AA8D-39C4-F2A6-7ACC4192F32A}"/>
              </a:ext>
            </a:extLst>
          </p:cNvPr>
          <p:cNvSpPr/>
          <p:nvPr/>
        </p:nvSpPr>
        <p:spPr>
          <a:xfrm>
            <a:off x="9655372" y="2716817"/>
            <a:ext cx="2079428" cy="902683"/>
          </a:xfrm>
          <a:prstGeom prst="line">
            <a:avLst/>
          </a:prstGeom>
          <a:noFill/>
          <a:ln w="12700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B4838EC2-8EB4-C412-5861-BDC0A6372F42}"/>
              </a:ext>
            </a:extLst>
          </p:cNvPr>
          <p:cNvSpPr/>
          <p:nvPr/>
        </p:nvSpPr>
        <p:spPr>
          <a:xfrm>
            <a:off x="247066" y="2564785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each </a:t>
            </a:r>
          </a:p>
          <a:p>
            <a:pPr marL="0" indent="0" algn="ctr">
              <a:buNone/>
            </a:pPr>
            <a:r>
              <a:rPr lang="en-US" sz="36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about?”</a:t>
            </a:r>
            <a:endParaRPr lang="en-US" sz="360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B786077E-D9E8-AA24-E3D2-1E8797F358CC}"/>
              </a:ext>
            </a:extLst>
          </p:cNvPr>
          <p:cNvSpPr/>
          <p:nvPr/>
        </p:nvSpPr>
        <p:spPr>
          <a:xfrm>
            <a:off x="10799406" y="256906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does the</a:t>
            </a:r>
          </a:p>
          <a:p>
            <a:pPr marL="0" indent="0" algn="ctr">
              <a:buNone/>
            </a:pPr>
            <a:r>
              <a:rPr lang="en-US" sz="36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record contain?”</a:t>
            </a:r>
            <a:endParaRPr lang="en-US" sz="360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71C1EA5-EAC9-CAA0-F642-CE024903EB08}"/>
              </a:ext>
            </a:extLst>
          </p:cNvPr>
          <p:cNvGrpSpPr/>
          <p:nvPr/>
        </p:nvGrpSpPr>
        <p:grpSpPr>
          <a:xfrm>
            <a:off x="1121643" y="5898300"/>
            <a:ext cx="5059681" cy="2064600"/>
            <a:chOff x="1417319" y="4224528"/>
            <a:chExt cx="5059681" cy="2064600"/>
          </a:xfrm>
        </p:grpSpPr>
        <p:sp>
          <p:nvSpPr>
            <p:cNvPr id="28" name="Shape 10">
              <a:extLst>
                <a:ext uri="{FF2B5EF4-FFF2-40B4-BE49-F238E27FC236}">
                  <a16:creationId xmlns:a16="http://schemas.microsoft.com/office/drawing/2014/main" id="{F1E2BA80-F481-731F-99EE-2F44A77DACC9}"/>
                </a:ext>
              </a:extLst>
            </p:cNvPr>
            <p:cNvSpPr/>
            <p:nvPr/>
          </p:nvSpPr>
          <p:spPr>
            <a:xfrm>
              <a:off x="1417319" y="4279600"/>
              <a:ext cx="5059671" cy="1810513"/>
            </a:xfrm>
            <a:prstGeom prst="roundRect">
              <a:avLst>
                <a:gd name="adj" fmla="val 9091"/>
              </a:avLst>
            </a:prstGeom>
            <a:solidFill>
              <a:schemeClr val="accent5">
                <a:lumMod val="40000"/>
                <a:lumOff val="60000"/>
              </a:schemeClr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F2C9C16F-DD1D-464D-8F5F-DFA7566D8268}"/>
                </a:ext>
              </a:extLst>
            </p:cNvPr>
            <p:cNvSpPr/>
            <p:nvPr/>
          </p:nvSpPr>
          <p:spPr>
            <a:xfrm>
              <a:off x="1581912" y="4224528"/>
              <a:ext cx="4895088" cy="2064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2400" b="1" dirty="0">
                  <a:solidFill>
                    <a:srgbClr val="1B2B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Keyword rules  |  embeddings+LR  |  LLM zero-shot</a:t>
              </a:r>
              <a:endParaRPr lang="en-US" sz="240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2400" dirty="0">
                  <a:solidFill>
                    <a:srgbClr val="5B717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three methods, identical inputs</a:t>
              </a:r>
              <a:endParaRPr lang="en-US" sz="2400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FB94664-6C41-AF09-F8F8-DF5B5CF49A60}"/>
              </a:ext>
            </a:extLst>
          </p:cNvPr>
          <p:cNvGrpSpPr/>
          <p:nvPr/>
        </p:nvGrpSpPr>
        <p:grpSpPr>
          <a:xfrm>
            <a:off x="1213127" y="3774841"/>
            <a:ext cx="4895088" cy="1749659"/>
            <a:chOff x="1417319" y="3108959"/>
            <a:chExt cx="4895088" cy="1749659"/>
          </a:xfrm>
        </p:grpSpPr>
        <p:sp>
          <p:nvSpPr>
            <p:cNvPr id="25" name="Shape 7">
              <a:extLst>
                <a:ext uri="{FF2B5EF4-FFF2-40B4-BE49-F238E27FC236}">
                  <a16:creationId xmlns:a16="http://schemas.microsoft.com/office/drawing/2014/main" id="{45115B89-DB26-8770-5D2B-1A9791C15CD1}"/>
                </a:ext>
              </a:extLst>
            </p:cNvPr>
            <p:cNvSpPr/>
            <p:nvPr/>
          </p:nvSpPr>
          <p:spPr>
            <a:xfrm>
              <a:off x="1417319" y="3108959"/>
              <a:ext cx="4895088" cy="1749659"/>
            </a:xfrm>
            <a:prstGeom prst="roundRect">
              <a:avLst>
                <a:gd name="adj" fmla="val 9091"/>
              </a:avLst>
            </a:prstGeom>
            <a:solidFill>
              <a:schemeClr val="accent5">
                <a:lumMod val="40000"/>
                <a:lumOff val="60000"/>
              </a:schemeClr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6" name="Text 8">
              <a:extLst>
                <a:ext uri="{FF2B5EF4-FFF2-40B4-BE49-F238E27FC236}">
                  <a16:creationId xmlns:a16="http://schemas.microsoft.com/office/drawing/2014/main" id="{F55FBC88-FFC6-AF1A-BE94-CF2F6141121A}"/>
                </a:ext>
              </a:extLst>
            </p:cNvPr>
            <p:cNvSpPr/>
            <p:nvPr/>
          </p:nvSpPr>
          <p:spPr>
            <a:xfrm>
              <a:off x="1581912" y="3163823"/>
              <a:ext cx="4572000" cy="16947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2400" b="1" dirty="0">
                  <a:solidFill>
                    <a:srgbClr val="1B2B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506 cards</a:t>
              </a:r>
              <a:endParaRPr lang="en-US" sz="240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2400" dirty="0">
                  <a:solidFill>
                    <a:srgbClr val="5B717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title + 250 words, org-masked</a:t>
              </a:r>
              <a:endParaRPr lang="en-US" sz="24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5817A7A-0052-55CE-AC60-7DEC10970DB6}"/>
              </a:ext>
            </a:extLst>
          </p:cNvPr>
          <p:cNvGrpSpPr/>
          <p:nvPr/>
        </p:nvGrpSpPr>
        <p:grpSpPr>
          <a:xfrm>
            <a:off x="1126318" y="8131740"/>
            <a:ext cx="5059671" cy="1888560"/>
            <a:chOff x="1417320" y="5230368"/>
            <a:chExt cx="3817476" cy="749808"/>
          </a:xfrm>
        </p:grpSpPr>
        <p:sp>
          <p:nvSpPr>
            <p:cNvPr id="31" name="Shape 13">
              <a:extLst>
                <a:ext uri="{FF2B5EF4-FFF2-40B4-BE49-F238E27FC236}">
                  <a16:creationId xmlns:a16="http://schemas.microsoft.com/office/drawing/2014/main" id="{64411244-586A-0B4E-1B65-7E3A1B0AD0A1}"/>
                </a:ext>
              </a:extLst>
            </p:cNvPr>
            <p:cNvSpPr/>
            <p:nvPr/>
          </p:nvSpPr>
          <p:spPr>
            <a:xfrm>
              <a:off x="1417320" y="5230368"/>
              <a:ext cx="3817476" cy="718822"/>
            </a:xfrm>
            <a:prstGeom prst="roundRect">
              <a:avLst>
                <a:gd name="adj" fmla="val 9091"/>
              </a:avLst>
            </a:prstGeom>
            <a:solidFill>
              <a:srgbClr val="063A42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2" name="Text 14">
              <a:extLst>
                <a:ext uri="{FF2B5EF4-FFF2-40B4-BE49-F238E27FC236}">
                  <a16:creationId xmlns:a16="http://schemas.microsoft.com/office/drawing/2014/main" id="{3ECD704B-7593-1FDF-6D34-9C344CC38524}"/>
                </a:ext>
              </a:extLst>
            </p:cNvPr>
            <p:cNvSpPr/>
            <p:nvPr/>
          </p:nvSpPr>
          <p:spPr>
            <a:xfrm>
              <a:off x="1581912" y="5285232"/>
              <a:ext cx="3511296" cy="6949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2800" b="1" dirty="0">
                  <a:solidFill>
                    <a:srgbClr val="7FE8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Topic label (9 classes)</a:t>
              </a:r>
              <a:endParaRPr lang="en-US" sz="280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2400" dirty="0">
                  <a:solidFill>
                    <a:srgbClr val="BFE3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graded on 217 frozen gold cards</a:t>
              </a:r>
              <a:endParaRPr lang="en-US" sz="2400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34EA641-3AD3-EDAA-25A4-76CF674718F3}"/>
              </a:ext>
            </a:extLst>
          </p:cNvPr>
          <p:cNvGrpSpPr/>
          <p:nvPr/>
        </p:nvGrpSpPr>
        <p:grpSpPr>
          <a:xfrm>
            <a:off x="10483170" y="3767773"/>
            <a:ext cx="5059672" cy="2107246"/>
            <a:chOff x="6976127" y="3121178"/>
            <a:chExt cx="5349228" cy="2107246"/>
          </a:xfrm>
        </p:grpSpPr>
        <p:sp>
          <p:nvSpPr>
            <p:cNvPr id="33" name="Shape 15">
              <a:extLst>
                <a:ext uri="{FF2B5EF4-FFF2-40B4-BE49-F238E27FC236}">
                  <a16:creationId xmlns:a16="http://schemas.microsoft.com/office/drawing/2014/main" id="{07AEB008-F117-3F0A-7197-409F13B8347B}"/>
                </a:ext>
              </a:extLst>
            </p:cNvPr>
            <p:cNvSpPr/>
            <p:nvPr/>
          </p:nvSpPr>
          <p:spPr>
            <a:xfrm>
              <a:off x="6976127" y="3121178"/>
              <a:ext cx="5349228" cy="1771300"/>
            </a:xfrm>
            <a:prstGeom prst="roundRect">
              <a:avLst>
                <a:gd name="adj" fmla="val 9091"/>
              </a:avLst>
            </a:prstGeom>
            <a:solidFill>
              <a:schemeClr val="accent5">
                <a:lumMod val="40000"/>
                <a:lumOff val="60000"/>
              </a:schemeClr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4" name="Text 16">
              <a:extLst>
                <a:ext uri="{FF2B5EF4-FFF2-40B4-BE49-F238E27FC236}">
                  <a16:creationId xmlns:a16="http://schemas.microsoft.com/office/drawing/2014/main" id="{508A6D71-619C-DA60-D657-ADBAD115C85B}"/>
                </a:ext>
              </a:extLst>
            </p:cNvPr>
            <p:cNvSpPr/>
            <p:nvPr/>
          </p:nvSpPr>
          <p:spPr>
            <a:xfrm>
              <a:off x="7095744" y="3163823"/>
              <a:ext cx="4756937" cy="20646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2400" b="1" dirty="0">
                  <a:solidFill>
                    <a:srgbClr val="1B2B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~2,000 chunks + metadata</a:t>
              </a:r>
              <a:endParaRPr lang="en-US" sz="240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2400" dirty="0">
                  <a:solidFill>
                    <a:srgbClr val="5B717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unmasked full text · layer, org, study, page</a:t>
              </a:r>
              <a:endParaRPr lang="en-US" sz="2400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03464F9-74B8-72AD-788C-36DB7D62FCFE}"/>
              </a:ext>
            </a:extLst>
          </p:cNvPr>
          <p:cNvGrpSpPr/>
          <p:nvPr/>
        </p:nvGrpSpPr>
        <p:grpSpPr>
          <a:xfrm>
            <a:off x="10530840" y="5902451"/>
            <a:ext cx="5090160" cy="1908049"/>
            <a:chOff x="6931151" y="4224527"/>
            <a:chExt cx="5394960" cy="1908049"/>
          </a:xfrm>
        </p:grpSpPr>
        <p:sp>
          <p:nvSpPr>
            <p:cNvPr id="36" name="Shape 18">
              <a:extLst>
                <a:ext uri="{FF2B5EF4-FFF2-40B4-BE49-F238E27FC236}">
                  <a16:creationId xmlns:a16="http://schemas.microsoft.com/office/drawing/2014/main" id="{035C87C8-E817-4A93-1F9D-4E8C43516037}"/>
                </a:ext>
              </a:extLst>
            </p:cNvPr>
            <p:cNvSpPr/>
            <p:nvPr/>
          </p:nvSpPr>
          <p:spPr>
            <a:xfrm>
              <a:off x="6931151" y="4322063"/>
              <a:ext cx="5394960" cy="1810513"/>
            </a:xfrm>
            <a:prstGeom prst="roundRect">
              <a:avLst>
                <a:gd name="adj" fmla="val 9091"/>
              </a:avLst>
            </a:prstGeom>
            <a:solidFill>
              <a:schemeClr val="accent5">
                <a:lumMod val="40000"/>
                <a:lumOff val="60000"/>
              </a:schemeClr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7" name="Text 19">
              <a:extLst>
                <a:ext uri="{FF2B5EF4-FFF2-40B4-BE49-F238E27FC236}">
                  <a16:creationId xmlns:a16="http://schemas.microsoft.com/office/drawing/2014/main" id="{AAF25FCD-0DC6-7E7C-D392-34E86DF03D87}"/>
                </a:ext>
              </a:extLst>
            </p:cNvPr>
            <p:cNvSpPr/>
            <p:nvPr/>
          </p:nvSpPr>
          <p:spPr>
            <a:xfrm>
              <a:off x="7095743" y="4224527"/>
              <a:ext cx="5096249" cy="14538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2400" b="1" dirty="0">
                  <a:solidFill>
                    <a:srgbClr val="1B2B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ChromaDB → filtered retrieval</a:t>
              </a:r>
              <a:endParaRPr lang="en-US" sz="240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2400" dirty="0">
                  <a:solidFill>
                    <a:srgbClr val="5B717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by layer:  briefs → recommendations → responses</a:t>
              </a:r>
              <a:endParaRPr lang="en-US" sz="24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4D3035C-8F95-5215-D010-EE11BC02A276}"/>
              </a:ext>
            </a:extLst>
          </p:cNvPr>
          <p:cNvGrpSpPr/>
          <p:nvPr/>
        </p:nvGrpSpPr>
        <p:grpSpPr>
          <a:xfrm>
            <a:off x="10607040" y="8010138"/>
            <a:ext cx="5013960" cy="2010162"/>
            <a:chOff x="6931152" y="5121361"/>
            <a:chExt cx="3840480" cy="913679"/>
          </a:xfrm>
        </p:grpSpPr>
        <p:sp>
          <p:nvSpPr>
            <p:cNvPr id="39" name="Shape 21">
              <a:extLst>
                <a:ext uri="{FF2B5EF4-FFF2-40B4-BE49-F238E27FC236}">
                  <a16:creationId xmlns:a16="http://schemas.microsoft.com/office/drawing/2014/main" id="{F87E6104-5243-13EA-7FC2-4ED6D7FE6CC1}"/>
                </a:ext>
              </a:extLst>
            </p:cNvPr>
            <p:cNvSpPr/>
            <p:nvPr/>
          </p:nvSpPr>
          <p:spPr>
            <a:xfrm>
              <a:off x="6931152" y="5212106"/>
              <a:ext cx="3840480" cy="822934"/>
            </a:xfrm>
            <a:prstGeom prst="roundRect">
              <a:avLst>
                <a:gd name="adj" fmla="val 9091"/>
              </a:avLst>
            </a:prstGeom>
            <a:solidFill>
              <a:srgbClr val="063A42"/>
            </a:solidFill>
            <a:ln/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0" name="Text 22">
              <a:extLst>
                <a:ext uri="{FF2B5EF4-FFF2-40B4-BE49-F238E27FC236}">
                  <a16:creationId xmlns:a16="http://schemas.microsoft.com/office/drawing/2014/main" id="{5DD7A6D9-0B1E-DC44-2C84-32B4E46CD643}"/>
                </a:ext>
              </a:extLst>
            </p:cNvPr>
            <p:cNvSpPr/>
            <p:nvPr/>
          </p:nvSpPr>
          <p:spPr>
            <a:xfrm>
              <a:off x="7078496" y="5121361"/>
              <a:ext cx="3511296" cy="6949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2800" b="1" dirty="0">
                  <a:solidFill>
                    <a:srgbClr val="7FE8D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gemma4 grounded generation</a:t>
              </a:r>
              <a:endParaRPr lang="en-US" sz="2800" dirty="0"/>
            </a:p>
            <a:p>
              <a:pPr marL="0" indent="0" algn="ctr">
                <a:lnSpc>
                  <a:spcPct val="105000"/>
                </a:lnSpc>
                <a:buNone/>
              </a:pPr>
              <a:r>
                <a:rPr lang="en-US" sz="2400" dirty="0">
                  <a:solidFill>
                    <a:srgbClr val="BFE3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cited answer · gap status per ask</a:t>
              </a:r>
              <a:endParaRPr lang="en-US" sz="2400" dirty="0"/>
            </a:p>
          </p:txBody>
        </p:sp>
      </p:grpSp>
      <p:sp>
        <p:nvSpPr>
          <p:cNvPr id="50" name="Shape 4">
            <a:extLst>
              <a:ext uri="{FF2B5EF4-FFF2-40B4-BE49-F238E27FC236}">
                <a16:creationId xmlns:a16="http://schemas.microsoft.com/office/drawing/2014/main" id="{A5B7587C-09D4-142D-093F-C227553D0A4A}"/>
              </a:ext>
            </a:extLst>
          </p:cNvPr>
          <p:cNvSpPr/>
          <p:nvPr/>
        </p:nvSpPr>
        <p:spPr>
          <a:xfrm flipH="1">
            <a:off x="4634969" y="2729010"/>
            <a:ext cx="2079428" cy="902683"/>
          </a:xfrm>
          <a:prstGeom prst="line">
            <a:avLst/>
          </a:prstGeom>
          <a:noFill/>
          <a:ln w="12700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52" name="Shape 9">
            <a:extLst>
              <a:ext uri="{FF2B5EF4-FFF2-40B4-BE49-F238E27FC236}">
                <a16:creationId xmlns:a16="http://schemas.microsoft.com/office/drawing/2014/main" id="{FE086B25-5FDE-FEB9-E6C2-AC2C0153E046}"/>
              </a:ext>
            </a:extLst>
          </p:cNvPr>
          <p:cNvSpPr/>
          <p:nvPr/>
        </p:nvSpPr>
        <p:spPr>
          <a:xfrm>
            <a:off x="8305800" y="5015484"/>
            <a:ext cx="0" cy="256032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53" name="Shape 3">
            <a:extLst>
              <a:ext uri="{FF2B5EF4-FFF2-40B4-BE49-F238E27FC236}">
                <a16:creationId xmlns:a16="http://schemas.microsoft.com/office/drawing/2014/main" id="{56FAC2DE-2E0D-2816-FF20-EF2E2C871A52}"/>
              </a:ext>
            </a:extLst>
          </p:cNvPr>
          <p:cNvSpPr/>
          <p:nvPr/>
        </p:nvSpPr>
        <p:spPr>
          <a:xfrm>
            <a:off x="3657600" y="7688580"/>
            <a:ext cx="0" cy="502920"/>
          </a:xfrm>
          <a:prstGeom prst="line">
            <a:avLst/>
          </a:prstGeom>
          <a:noFill/>
          <a:ln w="12700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54" name="Shape 3">
            <a:extLst>
              <a:ext uri="{FF2B5EF4-FFF2-40B4-BE49-F238E27FC236}">
                <a16:creationId xmlns:a16="http://schemas.microsoft.com/office/drawing/2014/main" id="{F8D2ACE6-D025-8113-2683-FAB4512A8DFB}"/>
              </a:ext>
            </a:extLst>
          </p:cNvPr>
          <p:cNvSpPr/>
          <p:nvPr/>
        </p:nvSpPr>
        <p:spPr>
          <a:xfrm>
            <a:off x="13106400" y="5554980"/>
            <a:ext cx="0" cy="502920"/>
          </a:xfrm>
          <a:prstGeom prst="line">
            <a:avLst/>
          </a:prstGeom>
          <a:noFill/>
          <a:ln w="12700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55" name="Shape 3">
            <a:extLst>
              <a:ext uri="{FF2B5EF4-FFF2-40B4-BE49-F238E27FC236}">
                <a16:creationId xmlns:a16="http://schemas.microsoft.com/office/drawing/2014/main" id="{967F413E-645A-4A2D-C1A5-AD55A2E451EF}"/>
              </a:ext>
            </a:extLst>
          </p:cNvPr>
          <p:cNvSpPr/>
          <p:nvPr/>
        </p:nvSpPr>
        <p:spPr>
          <a:xfrm>
            <a:off x="13106400" y="7764780"/>
            <a:ext cx="0" cy="502920"/>
          </a:xfrm>
          <a:prstGeom prst="line">
            <a:avLst/>
          </a:prstGeom>
          <a:noFill/>
          <a:ln w="12700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312444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E58BE0-50FD-3393-E9C6-6EC1D6355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4FBE68-1AB0-DFBD-76C4-76AAE19685C9}"/>
              </a:ext>
            </a:extLst>
          </p:cNvPr>
          <p:cNvSpPr txBox="1"/>
          <p:nvPr/>
        </p:nvSpPr>
        <p:spPr>
          <a:xfrm>
            <a:off x="914400" y="571500"/>
            <a:ext cx="14554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6000" b="1" i="0" u="none" strike="noStrike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Model evaluation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C8BFA2-E048-C00C-D2CE-D3EFF67EC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874" y="1866900"/>
            <a:ext cx="12367252" cy="742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021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E20F3E-1BDB-70B0-E95C-CA467D866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5738F0-7CDC-6501-DD14-F0D544533BC6}"/>
              </a:ext>
            </a:extLst>
          </p:cNvPr>
          <p:cNvSpPr txBox="1"/>
          <p:nvPr/>
        </p:nvSpPr>
        <p:spPr>
          <a:xfrm>
            <a:off x="914400" y="571500"/>
            <a:ext cx="14554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6000" b="1" i="0" u="none" strike="noStrike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Model evaluation (continued)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A8EB7D-2B5C-20D2-3C03-FB406A576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29" y="2247900"/>
            <a:ext cx="17112342" cy="66547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E5F8C22-C9D1-A547-BB8D-279DB5807FA8}"/>
              </a:ext>
            </a:extLst>
          </p:cNvPr>
          <p:cNvSpPr/>
          <p:nvPr/>
        </p:nvSpPr>
        <p:spPr>
          <a:xfrm>
            <a:off x="2286000" y="6896100"/>
            <a:ext cx="762000" cy="533400"/>
          </a:xfrm>
          <a:prstGeom prst="rect">
            <a:avLst/>
          </a:prstGeom>
          <a:noFill/>
          <a:ln w="635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F4934C-F84D-21F0-DCC5-0907351C0937}"/>
              </a:ext>
            </a:extLst>
          </p:cNvPr>
          <p:cNvSpPr/>
          <p:nvPr/>
        </p:nvSpPr>
        <p:spPr>
          <a:xfrm>
            <a:off x="3048000" y="3848100"/>
            <a:ext cx="762000" cy="533400"/>
          </a:xfrm>
          <a:prstGeom prst="rect">
            <a:avLst/>
          </a:prstGeom>
          <a:noFill/>
          <a:ln w="635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761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F02F1A-BF25-FECC-EBD7-F43A6270F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8E453B-80CA-B8D7-C72A-86003E764F5A}"/>
              </a:ext>
            </a:extLst>
          </p:cNvPr>
          <p:cNvSpPr txBox="1"/>
          <p:nvPr/>
        </p:nvSpPr>
        <p:spPr>
          <a:xfrm>
            <a:off x="914400" y="571500"/>
            <a:ext cx="14554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6000" b="1" i="0" u="none" strike="noStrike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Prompt engineering</a:t>
            </a:r>
          </a:p>
          <a:p>
            <a:endParaRPr lang="en-CA" sz="6000" b="1" i="0" u="none" strike="noStrike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021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825DD7-54BD-4B81-E36A-D8F88F838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06451D-84ED-F176-2853-5ABD31D988A6}"/>
              </a:ext>
            </a:extLst>
          </p:cNvPr>
          <p:cNvSpPr txBox="1"/>
          <p:nvPr/>
        </p:nvSpPr>
        <p:spPr>
          <a:xfrm>
            <a:off x="914400" y="571500"/>
            <a:ext cx="14554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6000" b="1" i="0" u="none" strike="noStrike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Prompt engineering</a:t>
            </a:r>
          </a:p>
          <a:p>
            <a:endParaRPr lang="en-CA" sz="6000" b="1" i="0" u="none" strike="noStrike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264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9D0F61-F63A-C9B8-2346-698A6B368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5F9EF-EAA0-96BF-2006-CD2028B3DB9D}"/>
              </a:ext>
            </a:extLst>
          </p:cNvPr>
          <p:cNvSpPr txBox="1"/>
          <p:nvPr/>
        </p:nvSpPr>
        <p:spPr>
          <a:xfrm>
            <a:off x="914400" y="571500"/>
            <a:ext cx="14554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6000" b="1" i="0" u="none" strike="noStrike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Conclusions</a:t>
            </a:r>
          </a:p>
          <a:p>
            <a:endParaRPr lang="en-CA" sz="6000" b="1" i="0" u="none" strike="noStrike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C9EC48-52DB-7618-BA80-114FEF433DB1}"/>
              </a:ext>
            </a:extLst>
          </p:cNvPr>
          <p:cNvSpPr txBox="1"/>
          <p:nvPr/>
        </p:nvSpPr>
        <p:spPr>
          <a:xfrm>
            <a:off x="2362200" y="3204508"/>
            <a:ext cx="1455420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</a:rPr>
              <a:t>Smaller model can outperform larger model on specific tasks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i="0" u="none" strike="noStrike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</a:rPr>
              <a:t>Personal time management need</a:t>
            </a:r>
            <a:r>
              <a:rPr lang="en-CA" sz="2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</a:rPr>
              <a:t>s to improve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8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800" i="0" u="none" strike="noStrike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</a:endParaRPr>
          </a:p>
          <a:p>
            <a:endParaRPr lang="en-CA" sz="6000" b="1" i="0" u="none" strike="noStrike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038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460</TotalTime>
  <Words>466</Words>
  <Application>Microsoft Macintosh PowerPoint</Application>
  <PresentationFormat>Custom</PresentationFormat>
  <Paragraphs>93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Cambria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Neutral Minimalist Business AI Use Policy Presentation</dc:title>
  <cp:lastModifiedBy>Siarhei Yermakou</cp:lastModifiedBy>
  <cp:revision>38</cp:revision>
  <dcterms:created xsi:type="dcterms:W3CDTF">2006-08-16T00:00:00Z</dcterms:created>
  <dcterms:modified xsi:type="dcterms:W3CDTF">2026-07-20T03:56:39Z</dcterms:modified>
  <dc:identifier>DAHP2lPq8oo</dc:identifier>
</cp:coreProperties>
</file>